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5"/>
  </p:notesMasterIdLst>
  <p:sldIdLst>
    <p:sldId id="257" r:id="rId2"/>
    <p:sldId id="258" r:id="rId3"/>
    <p:sldId id="272" r:id="rId4"/>
    <p:sldId id="259" r:id="rId5"/>
    <p:sldId id="264" r:id="rId6"/>
    <p:sldId id="273" r:id="rId7"/>
    <p:sldId id="262" r:id="rId8"/>
    <p:sldId id="263" r:id="rId9"/>
    <p:sldId id="275" r:id="rId10"/>
    <p:sldId id="274" r:id="rId11"/>
    <p:sldId id="268" r:id="rId12"/>
    <p:sldId id="276" r:id="rId13"/>
    <p:sldId id="277"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927"/>
    <p:restoredTop sz="60601"/>
  </p:normalViewPr>
  <p:slideViewPr>
    <p:cSldViewPr snapToGrid="0">
      <p:cViewPr varScale="1">
        <p:scale>
          <a:sx n="120" d="100"/>
          <a:sy n="120" d="100"/>
        </p:scale>
        <p:origin x="4720" y="48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96" d="100"/>
          <a:sy n="96" d="100"/>
        </p:scale>
        <p:origin x="4328" y="17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EB4CEB1-2F89-4DA7-AC7B-045E5FFF5075}"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01272C42-F422-4F9B-9BA4-E04BEE9F6F1B}">
      <dgm:prSet/>
      <dgm:spPr/>
      <dgm:t>
        <a:bodyPr/>
        <a:lstStyle/>
        <a:p>
          <a:r>
            <a:rPr lang="en-US" b="1" i="0"/>
            <a:t>Discovery</a:t>
          </a:r>
          <a:r>
            <a:rPr lang="en-US" b="0" i="0"/>
            <a:t> → attacker finds an unprotected API</a:t>
          </a:r>
          <a:endParaRPr lang="en-US"/>
        </a:p>
      </dgm:t>
    </dgm:pt>
    <dgm:pt modelId="{FA75E751-C645-4F5C-BCCF-4689E56DB1EE}" type="parTrans" cxnId="{CEB8C418-E1B1-4582-8DC0-C7EBA9242FAA}">
      <dgm:prSet/>
      <dgm:spPr/>
      <dgm:t>
        <a:bodyPr/>
        <a:lstStyle/>
        <a:p>
          <a:endParaRPr lang="en-US"/>
        </a:p>
      </dgm:t>
    </dgm:pt>
    <dgm:pt modelId="{0AE7EC86-F858-4733-85D2-D5E1D4C06A32}" type="sibTrans" cxnId="{CEB8C418-E1B1-4582-8DC0-C7EBA9242FAA}">
      <dgm:prSet/>
      <dgm:spPr/>
      <dgm:t>
        <a:bodyPr/>
        <a:lstStyle/>
        <a:p>
          <a:endParaRPr lang="en-US"/>
        </a:p>
      </dgm:t>
    </dgm:pt>
    <dgm:pt modelId="{B510B4D4-DBC3-4F20-A6F2-B2529899C98D}">
      <dgm:prSet/>
      <dgm:spPr/>
      <dgm:t>
        <a:bodyPr/>
        <a:lstStyle/>
        <a:p>
          <a:r>
            <a:rPr lang="en-US" b="1" i="0"/>
            <a:t>Exploitation</a:t>
          </a:r>
          <a:r>
            <a:rPr lang="en-US" b="0" i="0"/>
            <a:t> → sensitive data stolen or access escalated</a:t>
          </a:r>
          <a:endParaRPr lang="en-US"/>
        </a:p>
      </dgm:t>
    </dgm:pt>
    <dgm:pt modelId="{0E134B2B-B24A-4252-9E8B-12DB15990FE1}" type="parTrans" cxnId="{398E6828-02E1-4FB9-AF67-218F8D5DBAA8}">
      <dgm:prSet/>
      <dgm:spPr/>
      <dgm:t>
        <a:bodyPr/>
        <a:lstStyle/>
        <a:p>
          <a:endParaRPr lang="en-US"/>
        </a:p>
      </dgm:t>
    </dgm:pt>
    <dgm:pt modelId="{49523312-7911-4AF5-8A54-ECC5ABC5A75C}" type="sibTrans" cxnId="{398E6828-02E1-4FB9-AF67-218F8D5DBAA8}">
      <dgm:prSet/>
      <dgm:spPr/>
      <dgm:t>
        <a:bodyPr/>
        <a:lstStyle/>
        <a:p>
          <a:endParaRPr lang="en-US"/>
        </a:p>
      </dgm:t>
    </dgm:pt>
    <dgm:pt modelId="{A9AFDB8A-223F-43CA-ABD9-686867D52DF2}">
      <dgm:prSet/>
      <dgm:spPr/>
      <dgm:t>
        <a:bodyPr/>
        <a:lstStyle/>
        <a:p>
          <a:r>
            <a:rPr lang="en-US" b="1" i="0"/>
            <a:t>Damage</a:t>
          </a:r>
          <a:r>
            <a:rPr lang="en-US" b="0" i="0"/>
            <a:t> → legal, financial, and reputational impact</a:t>
          </a:r>
          <a:endParaRPr lang="en-US"/>
        </a:p>
      </dgm:t>
    </dgm:pt>
    <dgm:pt modelId="{8ECF3F28-FAE5-4E28-99E9-D3591715DA32}" type="parTrans" cxnId="{A1CD5A2A-5D9A-4360-A0F1-8415FBAD6F44}">
      <dgm:prSet/>
      <dgm:spPr/>
      <dgm:t>
        <a:bodyPr/>
        <a:lstStyle/>
        <a:p>
          <a:endParaRPr lang="en-US"/>
        </a:p>
      </dgm:t>
    </dgm:pt>
    <dgm:pt modelId="{DAE49827-8FC0-4540-A141-074F7F1C26A5}" type="sibTrans" cxnId="{A1CD5A2A-5D9A-4360-A0F1-8415FBAD6F44}">
      <dgm:prSet/>
      <dgm:spPr/>
      <dgm:t>
        <a:bodyPr/>
        <a:lstStyle/>
        <a:p>
          <a:endParaRPr lang="en-US"/>
        </a:p>
      </dgm:t>
    </dgm:pt>
    <dgm:pt modelId="{F90EA4BC-2F1A-6F41-B384-F2C324D3523C}" type="pres">
      <dgm:prSet presAssocID="{7EB4CEB1-2F89-4DA7-AC7B-045E5FFF5075}" presName="linear" presStyleCnt="0">
        <dgm:presLayoutVars>
          <dgm:animLvl val="lvl"/>
          <dgm:resizeHandles val="exact"/>
        </dgm:presLayoutVars>
      </dgm:prSet>
      <dgm:spPr/>
    </dgm:pt>
    <dgm:pt modelId="{64054EC9-6324-EF4B-A032-BB8F043938F1}" type="pres">
      <dgm:prSet presAssocID="{01272C42-F422-4F9B-9BA4-E04BEE9F6F1B}" presName="parentText" presStyleLbl="node1" presStyleIdx="0" presStyleCnt="3">
        <dgm:presLayoutVars>
          <dgm:chMax val="0"/>
          <dgm:bulletEnabled val="1"/>
        </dgm:presLayoutVars>
      </dgm:prSet>
      <dgm:spPr/>
    </dgm:pt>
    <dgm:pt modelId="{96D39E70-98CE-2942-8F1A-3DB363321C4C}" type="pres">
      <dgm:prSet presAssocID="{0AE7EC86-F858-4733-85D2-D5E1D4C06A32}" presName="spacer" presStyleCnt="0"/>
      <dgm:spPr/>
    </dgm:pt>
    <dgm:pt modelId="{61BBE5AB-8F7B-0542-A0F2-AD65A4342118}" type="pres">
      <dgm:prSet presAssocID="{B510B4D4-DBC3-4F20-A6F2-B2529899C98D}" presName="parentText" presStyleLbl="node1" presStyleIdx="1" presStyleCnt="3">
        <dgm:presLayoutVars>
          <dgm:chMax val="0"/>
          <dgm:bulletEnabled val="1"/>
        </dgm:presLayoutVars>
      </dgm:prSet>
      <dgm:spPr/>
    </dgm:pt>
    <dgm:pt modelId="{7022A873-888A-D645-B923-BBB2B2FDD970}" type="pres">
      <dgm:prSet presAssocID="{49523312-7911-4AF5-8A54-ECC5ABC5A75C}" presName="spacer" presStyleCnt="0"/>
      <dgm:spPr/>
    </dgm:pt>
    <dgm:pt modelId="{19D47A99-02CD-1C46-B8ED-A64EC53A765E}" type="pres">
      <dgm:prSet presAssocID="{A9AFDB8A-223F-43CA-ABD9-686867D52DF2}" presName="parentText" presStyleLbl="node1" presStyleIdx="2" presStyleCnt="3">
        <dgm:presLayoutVars>
          <dgm:chMax val="0"/>
          <dgm:bulletEnabled val="1"/>
        </dgm:presLayoutVars>
      </dgm:prSet>
      <dgm:spPr/>
    </dgm:pt>
  </dgm:ptLst>
  <dgm:cxnLst>
    <dgm:cxn modelId="{6CDC8C13-BE8B-144B-8BEF-ECE66F27BF90}" type="presOf" srcId="{A9AFDB8A-223F-43CA-ABD9-686867D52DF2}" destId="{19D47A99-02CD-1C46-B8ED-A64EC53A765E}" srcOrd="0" destOrd="0" presId="urn:microsoft.com/office/officeart/2005/8/layout/vList2"/>
    <dgm:cxn modelId="{CEB8C418-E1B1-4582-8DC0-C7EBA9242FAA}" srcId="{7EB4CEB1-2F89-4DA7-AC7B-045E5FFF5075}" destId="{01272C42-F422-4F9B-9BA4-E04BEE9F6F1B}" srcOrd="0" destOrd="0" parTransId="{FA75E751-C645-4F5C-BCCF-4689E56DB1EE}" sibTransId="{0AE7EC86-F858-4733-85D2-D5E1D4C06A32}"/>
    <dgm:cxn modelId="{398E6828-02E1-4FB9-AF67-218F8D5DBAA8}" srcId="{7EB4CEB1-2F89-4DA7-AC7B-045E5FFF5075}" destId="{B510B4D4-DBC3-4F20-A6F2-B2529899C98D}" srcOrd="1" destOrd="0" parTransId="{0E134B2B-B24A-4252-9E8B-12DB15990FE1}" sibTransId="{49523312-7911-4AF5-8A54-ECC5ABC5A75C}"/>
    <dgm:cxn modelId="{A1CD5A2A-5D9A-4360-A0F1-8415FBAD6F44}" srcId="{7EB4CEB1-2F89-4DA7-AC7B-045E5FFF5075}" destId="{A9AFDB8A-223F-43CA-ABD9-686867D52DF2}" srcOrd="2" destOrd="0" parTransId="{8ECF3F28-FAE5-4E28-99E9-D3591715DA32}" sibTransId="{DAE49827-8FC0-4540-A141-074F7F1C26A5}"/>
    <dgm:cxn modelId="{74537A57-EB53-7C42-B167-B2774C0BDF77}" type="presOf" srcId="{7EB4CEB1-2F89-4DA7-AC7B-045E5FFF5075}" destId="{F90EA4BC-2F1A-6F41-B384-F2C324D3523C}" srcOrd="0" destOrd="0" presId="urn:microsoft.com/office/officeart/2005/8/layout/vList2"/>
    <dgm:cxn modelId="{60650B96-9276-D146-B16D-067704ABC612}" type="presOf" srcId="{01272C42-F422-4F9B-9BA4-E04BEE9F6F1B}" destId="{64054EC9-6324-EF4B-A032-BB8F043938F1}" srcOrd="0" destOrd="0" presId="urn:microsoft.com/office/officeart/2005/8/layout/vList2"/>
    <dgm:cxn modelId="{4E4626DE-E64E-A34B-870E-1A5324FE2FDC}" type="presOf" srcId="{B510B4D4-DBC3-4F20-A6F2-B2529899C98D}" destId="{61BBE5AB-8F7B-0542-A0F2-AD65A4342118}" srcOrd="0" destOrd="0" presId="urn:microsoft.com/office/officeart/2005/8/layout/vList2"/>
    <dgm:cxn modelId="{8E4CBE22-BE78-6A4F-9757-6C8CBB8B987E}" type="presParOf" srcId="{F90EA4BC-2F1A-6F41-B384-F2C324D3523C}" destId="{64054EC9-6324-EF4B-A032-BB8F043938F1}" srcOrd="0" destOrd="0" presId="urn:microsoft.com/office/officeart/2005/8/layout/vList2"/>
    <dgm:cxn modelId="{35357327-237C-DE48-BB30-9A8E9A50D0EB}" type="presParOf" srcId="{F90EA4BC-2F1A-6F41-B384-F2C324D3523C}" destId="{96D39E70-98CE-2942-8F1A-3DB363321C4C}" srcOrd="1" destOrd="0" presId="urn:microsoft.com/office/officeart/2005/8/layout/vList2"/>
    <dgm:cxn modelId="{AD3CA059-F0C5-B54E-8DA0-9DD1F9FAE0CC}" type="presParOf" srcId="{F90EA4BC-2F1A-6F41-B384-F2C324D3523C}" destId="{61BBE5AB-8F7B-0542-A0F2-AD65A4342118}" srcOrd="2" destOrd="0" presId="urn:microsoft.com/office/officeart/2005/8/layout/vList2"/>
    <dgm:cxn modelId="{FFC70CDE-8394-B840-A51A-FE0353C93912}" type="presParOf" srcId="{F90EA4BC-2F1A-6F41-B384-F2C324D3523C}" destId="{7022A873-888A-D645-B923-BBB2B2FDD970}" srcOrd="3" destOrd="0" presId="urn:microsoft.com/office/officeart/2005/8/layout/vList2"/>
    <dgm:cxn modelId="{9385A8A4-CE59-9D4B-A60C-89F4AD060C52}" type="presParOf" srcId="{F90EA4BC-2F1A-6F41-B384-F2C324D3523C}" destId="{19D47A99-02CD-1C46-B8ED-A64EC53A765E}" srcOrd="4"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4C545B5-4989-4F62-AF3C-AFFECCF0909E}"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71998975-AE11-4213-8AC1-0CBC4BB97281}">
      <dgm:prSet/>
      <dgm:spPr/>
      <dgm:t>
        <a:bodyPr/>
        <a:lstStyle/>
        <a:p>
          <a:r>
            <a:rPr lang="en-US" b="1"/>
            <a:t>What You Expect:</a:t>
          </a:r>
          <a:r>
            <a:rPr lang="en-US"/>
            <a:t> REST &amp; GraphQL powering web and mobile features</a:t>
          </a:r>
        </a:p>
      </dgm:t>
    </dgm:pt>
    <dgm:pt modelId="{E25E8C84-CE5F-4E18-971A-18C73CAA0472}" type="parTrans" cxnId="{089A778D-1319-4EC5-9C0E-1FD5C21C3D8E}">
      <dgm:prSet/>
      <dgm:spPr/>
      <dgm:t>
        <a:bodyPr/>
        <a:lstStyle/>
        <a:p>
          <a:endParaRPr lang="en-US"/>
        </a:p>
      </dgm:t>
    </dgm:pt>
    <dgm:pt modelId="{32DE742D-58E2-43ED-9BB4-166988F496E1}" type="sibTrans" cxnId="{089A778D-1319-4EC5-9C0E-1FD5C21C3D8E}">
      <dgm:prSet/>
      <dgm:spPr/>
      <dgm:t>
        <a:bodyPr/>
        <a:lstStyle/>
        <a:p>
          <a:endParaRPr lang="en-US"/>
        </a:p>
      </dgm:t>
    </dgm:pt>
    <dgm:pt modelId="{BB3ECC94-D33B-4012-B539-21B4E08036DE}">
      <dgm:prSet/>
      <dgm:spPr/>
      <dgm:t>
        <a:bodyPr/>
        <a:lstStyle/>
        <a:p>
          <a:r>
            <a:rPr lang="en-US" b="1"/>
            <a:t>What You Don’t See:</a:t>
          </a:r>
          <a:r>
            <a:rPr lang="en-US"/>
            <a:t> gRPC, Webhooks, Async APIs inside microservices</a:t>
          </a:r>
        </a:p>
      </dgm:t>
    </dgm:pt>
    <dgm:pt modelId="{F8C99814-38CD-4BE0-8C64-65262466E5F4}" type="parTrans" cxnId="{4B2476E2-629C-4585-BE7E-3F8262D9D7C9}">
      <dgm:prSet/>
      <dgm:spPr/>
      <dgm:t>
        <a:bodyPr/>
        <a:lstStyle/>
        <a:p>
          <a:endParaRPr lang="en-US"/>
        </a:p>
      </dgm:t>
    </dgm:pt>
    <dgm:pt modelId="{98E5BEA6-96A5-48D2-854D-822607473D64}" type="sibTrans" cxnId="{4B2476E2-629C-4585-BE7E-3F8262D9D7C9}">
      <dgm:prSet/>
      <dgm:spPr/>
      <dgm:t>
        <a:bodyPr/>
        <a:lstStyle/>
        <a:p>
          <a:endParaRPr lang="en-US"/>
        </a:p>
      </dgm:t>
    </dgm:pt>
    <dgm:pt modelId="{14206251-6960-4BA9-A16C-F8444B126133}">
      <dgm:prSet/>
      <dgm:spPr/>
      <dgm:t>
        <a:bodyPr/>
        <a:lstStyle/>
        <a:p>
          <a:r>
            <a:rPr lang="en-US" b="1"/>
            <a:t>What You Forgot Exists:</a:t>
          </a:r>
          <a:r>
            <a:rPr lang="en-US"/>
            <a:t> SOAP/XML-RPC and internal “zombie” APIs</a:t>
          </a:r>
        </a:p>
      </dgm:t>
    </dgm:pt>
    <dgm:pt modelId="{E2FB9D97-71F5-434F-A6F4-608862412C2D}" type="parTrans" cxnId="{EB9F499A-71CF-41E5-845E-101784AAE36C}">
      <dgm:prSet/>
      <dgm:spPr/>
      <dgm:t>
        <a:bodyPr/>
        <a:lstStyle/>
        <a:p>
          <a:endParaRPr lang="en-US"/>
        </a:p>
      </dgm:t>
    </dgm:pt>
    <dgm:pt modelId="{F2B69472-05F4-4E9A-90BB-D25991088883}" type="sibTrans" cxnId="{EB9F499A-71CF-41E5-845E-101784AAE36C}">
      <dgm:prSet/>
      <dgm:spPr/>
      <dgm:t>
        <a:bodyPr/>
        <a:lstStyle/>
        <a:p>
          <a:endParaRPr lang="en-US"/>
        </a:p>
      </dgm:t>
    </dgm:pt>
    <dgm:pt modelId="{10E34911-505A-2148-A52C-4BA6ED7EA0DE}" type="pres">
      <dgm:prSet presAssocID="{84C545B5-4989-4F62-AF3C-AFFECCF0909E}" presName="linear" presStyleCnt="0">
        <dgm:presLayoutVars>
          <dgm:animLvl val="lvl"/>
          <dgm:resizeHandles val="exact"/>
        </dgm:presLayoutVars>
      </dgm:prSet>
      <dgm:spPr/>
    </dgm:pt>
    <dgm:pt modelId="{BDD970EE-1C91-9B45-857A-3F82F5DE2A98}" type="pres">
      <dgm:prSet presAssocID="{71998975-AE11-4213-8AC1-0CBC4BB97281}" presName="parentText" presStyleLbl="node1" presStyleIdx="0" presStyleCnt="3">
        <dgm:presLayoutVars>
          <dgm:chMax val="0"/>
          <dgm:bulletEnabled val="1"/>
        </dgm:presLayoutVars>
      </dgm:prSet>
      <dgm:spPr/>
    </dgm:pt>
    <dgm:pt modelId="{B5778B75-8CDA-F14B-BE34-E8E31549C4BE}" type="pres">
      <dgm:prSet presAssocID="{32DE742D-58E2-43ED-9BB4-166988F496E1}" presName="spacer" presStyleCnt="0"/>
      <dgm:spPr/>
    </dgm:pt>
    <dgm:pt modelId="{EC9A40FD-091A-0D4A-87C1-DB3DA1A3FD97}" type="pres">
      <dgm:prSet presAssocID="{BB3ECC94-D33B-4012-B539-21B4E08036DE}" presName="parentText" presStyleLbl="node1" presStyleIdx="1" presStyleCnt="3">
        <dgm:presLayoutVars>
          <dgm:chMax val="0"/>
          <dgm:bulletEnabled val="1"/>
        </dgm:presLayoutVars>
      </dgm:prSet>
      <dgm:spPr/>
    </dgm:pt>
    <dgm:pt modelId="{780ADCE9-FA0B-8D43-A0C5-9027FCE34962}" type="pres">
      <dgm:prSet presAssocID="{98E5BEA6-96A5-48D2-854D-822607473D64}" presName="spacer" presStyleCnt="0"/>
      <dgm:spPr/>
    </dgm:pt>
    <dgm:pt modelId="{FAF8D0E6-4E23-F948-B2C5-D175AB5DC0A1}" type="pres">
      <dgm:prSet presAssocID="{14206251-6960-4BA9-A16C-F8444B126133}" presName="parentText" presStyleLbl="node1" presStyleIdx="2" presStyleCnt="3">
        <dgm:presLayoutVars>
          <dgm:chMax val="0"/>
          <dgm:bulletEnabled val="1"/>
        </dgm:presLayoutVars>
      </dgm:prSet>
      <dgm:spPr/>
    </dgm:pt>
  </dgm:ptLst>
  <dgm:cxnLst>
    <dgm:cxn modelId="{972AAF08-D229-1E4B-8E30-116CFAF34841}" type="presOf" srcId="{BB3ECC94-D33B-4012-B539-21B4E08036DE}" destId="{EC9A40FD-091A-0D4A-87C1-DB3DA1A3FD97}" srcOrd="0" destOrd="0" presId="urn:microsoft.com/office/officeart/2005/8/layout/vList2"/>
    <dgm:cxn modelId="{D3E65A44-73C1-8B47-952E-F0E42ECBD860}" type="presOf" srcId="{71998975-AE11-4213-8AC1-0CBC4BB97281}" destId="{BDD970EE-1C91-9B45-857A-3F82F5DE2A98}" srcOrd="0" destOrd="0" presId="urn:microsoft.com/office/officeart/2005/8/layout/vList2"/>
    <dgm:cxn modelId="{FD144248-B40E-0A48-83CD-B7CE5092FED3}" type="presOf" srcId="{14206251-6960-4BA9-A16C-F8444B126133}" destId="{FAF8D0E6-4E23-F948-B2C5-D175AB5DC0A1}" srcOrd="0" destOrd="0" presId="urn:microsoft.com/office/officeart/2005/8/layout/vList2"/>
    <dgm:cxn modelId="{089A778D-1319-4EC5-9C0E-1FD5C21C3D8E}" srcId="{84C545B5-4989-4F62-AF3C-AFFECCF0909E}" destId="{71998975-AE11-4213-8AC1-0CBC4BB97281}" srcOrd="0" destOrd="0" parTransId="{E25E8C84-CE5F-4E18-971A-18C73CAA0472}" sibTransId="{32DE742D-58E2-43ED-9BB4-166988F496E1}"/>
    <dgm:cxn modelId="{EB9F499A-71CF-41E5-845E-101784AAE36C}" srcId="{84C545B5-4989-4F62-AF3C-AFFECCF0909E}" destId="{14206251-6960-4BA9-A16C-F8444B126133}" srcOrd="2" destOrd="0" parTransId="{E2FB9D97-71F5-434F-A6F4-608862412C2D}" sibTransId="{F2B69472-05F4-4E9A-90BB-D25991088883}"/>
    <dgm:cxn modelId="{AFAACCBF-DD58-7944-8290-3A8D839E8BFB}" type="presOf" srcId="{84C545B5-4989-4F62-AF3C-AFFECCF0909E}" destId="{10E34911-505A-2148-A52C-4BA6ED7EA0DE}" srcOrd="0" destOrd="0" presId="urn:microsoft.com/office/officeart/2005/8/layout/vList2"/>
    <dgm:cxn modelId="{4B2476E2-629C-4585-BE7E-3F8262D9D7C9}" srcId="{84C545B5-4989-4F62-AF3C-AFFECCF0909E}" destId="{BB3ECC94-D33B-4012-B539-21B4E08036DE}" srcOrd="1" destOrd="0" parTransId="{F8C99814-38CD-4BE0-8C64-65262466E5F4}" sibTransId="{98E5BEA6-96A5-48D2-854D-822607473D64}"/>
    <dgm:cxn modelId="{A80C3A49-E2F5-2749-A07F-6BC3FE6CBF3F}" type="presParOf" srcId="{10E34911-505A-2148-A52C-4BA6ED7EA0DE}" destId="{BDD970EE-1C91-9B45-857A-3F82F5DE2A98}" srcOrd="0" destOrd="0" presId="urn:microsoft.com/office/officeart/2005/8/layout/vList2"/>
    <dgm:cxn modelId="{82F21B86-7D27-F847-8143-54E570F05FDC}" type="presParOf" srcId="{10E34911-505A-2148-A52C-4BA6ED7EA0DE}" destId="{B5778B75-8CDA-F14B-BE34-E8E31549C4BE}" srcOrd="1" destOrd="0" presId="urn:microsoft.com/office/officeart/2005/8/layout/vList2"/>
    <dgm:cxn modelId="{E6209983-CDF4-DC4B-B6BE-DB02146AFAC9}" type="presParOf" srcId="{10E34911-505A-2148-A52C-4BA6ED7EA0DE}" destId="{EC9A40FD-091A-0D4A-87C1-DB3DA1A3FD97}" srcOrd="2" destOrd="0" presId="urn:microsoft.com/office/officeart/2005/8/layout/vList2"/>
    <dgm:cxn modelId="{E22E3BB9-3EE6-4E49-AFFC-C5F7F5491BFD}" type="presParOf" srcId="{10E34911-505A-2148-A52C-4BA6ED7EA0DE}" destId="{780ADCE9-FA0B-8D43-A0C5-9027FCE34962}" srcOrd="3" destOrd="0" presId="urn:microsoft.com/office/officeart/2005/8/layout/vList2"/>
    <dgm:cxn modelId="{E1F9D491-005F-F642-B9CD-EBF5F60E2479}" type="presParOf" srcId="{10E34911-505A-2148-A52C-4BA6ED7EA0DE}" destId="{FAF8D0E6-4E23-F948-B2C5-D175AB5DC0A1}" srcOrd="4"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7281F55-58FC-4F31-8A4D-149B0C2E0A67}"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09B9F3AA-B0CA-401B-9642-7C5BDDC9486C}">
      <dgm:prSet/>
      <dgm:spPr/>
      <dgm:t>
        <a:bodyPr/>
        <a:lstStyle/>
        <a:p>
          <a:r>
            <a:rPr lang="en-US" b="1" dirty="0"/>
            <a:t>1 — Inline or Out-of-Band?</a:t>
          </a:r>
          <a:endParaRPr lang="en-US" dirty="0"/>
        </a:p>
      </dgm:t>
    </dgm:pt>
    <dgm:pt modelId="{CD4EE447-2BBE-4A8E-B912-9382E4BEDF00}" type="parTrans" cxnId="{F5267E21-EC47-49B4-93F0-4BF7F377CC14}">
      <dgm:prSet/>
      <dgm:spPr/>
      <dgm:t>
        <a:bodyPr/>
        <a:lstStyle/>
        <a:p>
          <a:endParaRPr lang="en-US"/>
        </a:p>
      </dgm:t>
    </dgm:pt>
    <dgm:pt modelId="{F7316507-7BF8-42F8-A893-B4075C9A301D}" type="sibTrans" cxnId="{F5267E21-EC47-49B4-93F0-4BF7F377CC14}">
      <dgm:prSet/>
      <dgm:spPr/>
      <dgm:t>
        <a:bodyPr/>
        <a:lstStyle/>
        <a:p>
          <a:endParaRPr lang="en-US"/>
        </a:p>
      </dgm:t>
    </dgm:pt>
    <dgm:pt modelId="{EF89833F-FABC-44F8-B454-DA17E7AE0B81}">
      <dgm:prSet/>
      <dgm:spPr/>
      <dgm:t>
        <a:bodyPr/>
        <a:lstStyle/>
        <a:p>
          <a:r>
            <a:rPr lang="en-US" b="1"/>
            <a:t>Inline</a:t>
          </a:r>
          <a:endParaRPr lang="en-US"/>
        </a:p>
      </dgm:t>
    </dgm:pt>
    <dgm:pt modelId="{B49E1C56-1A06-474E-9659-888858644F64}" type="parTrans" cxnId="{A35BF06B-89D4-4256-884A-84A7C0F5FE93}">
      <dgm:prSet/>
      <dgm:spPr/>
      <dgm:t>
        <a:bodyPr/>
        <a:lstStyle/>
        <a:p>
          <a:endParaRPr lang="en-US"/>
        </a:p>
      </dgm:t>
    </dgm:pt>
    <dgm:pt modelId="{F4DE971D-77A3-4CD0-A16D-B5948AADB762}" type="sibTrans" cxnId="{A35BF06B-89D4-4256-884A-84A7C0F5FE93}">
      <dgm:prSet/>
      <dgm:spPr/>
      <dgm:t>
        <a:bodyPr/>
        <a:lstStyle/>
        <a:p>
          <a:endParaRPr lang="en-US"/>
        </a:p>
      </dgm:t>
    </dgm:pt>
    <dgm:pt modelId="{323F41AE-A189-4E19-9FAC-8689D8AA66EF}">
      <dgm:prSet/>
      <dgm:spPr/>
      <dgm:t>
        <a:bodyPr/>
        <a:lstStyle/>
        <a:p>
          <a:r>
            <a:rPr lang="en-US"/>
            <a:t>Real-time blocking</a:t>
          </a:r>
        </a:p>
      </dgm:t>
    </dgm:pt>
    <dgm:pt modelId="{58D8CB3A-DDB3-400E-8CDB-828F398E1A43}" type="parTrans" cxnId="{33B0705C-9A93-4C03-BCDC-30D9ABE0D665}">
      <dgm:prSet/>
      <dgm:spPr/>
      <dgm:t>
        <a:bodyPr/>
        <a:lstStyle/>
        <a:p>
          <a:endParaRPr lang="en-US"/>
        </a:p>
      </dgm:t>
    </dgm:pt>
    <dgm:pt modelId="{C9E8C0D7-052C-4D8C-A6E1-7B36F5B673F0}" type="sibTrans" cxnId="{33B0705C-9A93-4C03-BCDC-30D9ABE0D665}">
      <dgm:prSet/>
      <dgm:spPr/>
      <dgm:t>
        <a:bodyPr/>
        <a:lstStyle/>
        <a:p>
          <a:endParaRPr lang="en-US"/>
        </a:p>
      </dgm:t>
    </dgm:pt>
    <dgm:pt modelId="{F5A24C0E-3694-4F4C-BDAF-361BB8867822}">
      <dgm:prSet/>
      <dgm:spPr/>
      <dgm:t>
        <a:bodyPr/>
        <a:lstStyle/>
        <a:p>
          <a:r>
            <a:rPr lang="en-US"/>
            <a:t>Can add </a:t>
          </a:r>
          <a:r>
            <a:rPr lang="en-US" b="1"/>
            <a:t>100–200ms latency</a:t>
          </a:r>
          <a:r>
            <a:rPr lang="en-US"/>
            <a:t> (per AWS API GW customer feedback)</a:t>
          </a:r>
        </a:p>
      </dgm:t>
    </dgm:pt>
    <dgm:pt modelId="{1130D8FC-59C8-45FD-86BE-3D41AA9C0663}" type="parTrans" cxnId="{139A4710-8099-4512-8779-9EB7D5E124AA}">
      <dgm:prSet/>
      <dgm:spPr/>
      <dgm:t>
        <a:bodyPr/>
        <a:lstStyle/>
        <a:p>
          <a:endParaRPr lang="en-US"/>
        </a:p>
      </dgm:t>
    </dgm:pt>
    <dgm:pt modelId="{A06F3A3F-E020-4368-848C-DB13CD9EAD44}" type="sibTrans" cxnId="{139A4710-8099-4512-8779-9EB7D5E124AA}">
      <dgm:prSet/>
      <dgm:spPr/>
      <dgm:t>
        <a:bodyPr/>
        <a:lstStyle/>
        <a:p>
          <a:endParaRPr lang="en-US"/>
        </a:p>
      </dgm:t>
    </dgm:pt>
    <dgm:pt modelId="{BE03537A-C1E6-4410-AB03-670B8555629D}">
      <dgm:prSet/>
      <dgm:spPr/>
      <dgm:t>
        <a:bodyPr/>
        <a:lstStyle/>
        <a:p>
          <a:r>
            <a:rPr lang="en-US" b="1"/>
            <a:t>Out-of-Band (OOB)</a:t>
          </a:r>
          <a:endParaRPr lang="en-US"/>
        </a:p>
      </dgm:t>
    </dgm:pt>
    <dgm:pt modelId="{C0A627AB-B551-4BAA-9C1F-AA33018A120D}" type="parTrans" cxnId="{C7D45873-7B1F-426E-ACEC-29F108430361}">
      <dgm:prSet/>
      <dgm:spPr/>
      <dgm:t>
        <a:bodyPr/>
        <a:lstStyle/>
        <a:p>
          <a:endParaRPr lang="en-US"/>
        </a:p>
      </dgm:t>
    </dgm:pt>
    <dgm:pt modelId="{CA7CE0B3-2A0F-48D1-8439-D7BCDBC8307F}" type="sibTrans" cxnId="{C7D45873-7B1F-426E-ACEC-29F108430361}">
      <dgm:prSet/>
      <dgm:spPr/>
      <dgm:t>
        <a:bodyPr/>
        <a:lstStyle/>
        <a:p>
          <a:endParaRPr lang="en-US"/>
        </a:p>
      </dgm:t>
    </dgm:pt>
    <dgm:pt modelId="{43D56D47-E8BD-4810-9A04-DAD9075BEEF9}">
      <dgm:prSet/>
      <dgm:spPr/>
      <dgm:t>
        <a:bodyPr/>
        <a:lstStyle/>
        <a:p>
          <a:r>
            <a:rPr lang="en-US"/>
            <a:t>Mirrors traffic</a:t>
          </a:r>
        </a:p>
      </dgm:t>
    </dgm:pt>
    <dgm:pt modelId="{01BEEF39-5E51-4BEC-B68C-F9325DE00A71}" type="parTrans" cxnId="{25C4E70F-8C57-4475-869F-718CC637C6D7}">
      <dgm:prSet/>
      <dgm:spPr/>
      <dgm:t>
        <a:bodyPr/>
        <a:lstStyle/>
        <a:p>
          <a:endParaRPr lang="en-US"/>
        </a:p>
      </dgm:t>
    </dgm:pt>
    <dgm:pt modelId="{A24A180D-19CE-4487-A9D9-DCE75E4DF179}" type="sibTrans" cxnId="{25C4E70F-8C57-4475-869F-718CC637C6D7}">
      <dgm:prSet/>
      <dgm:spPr/>
      <dgm:t>
        <a:bodyPr/>
        <a:lstStyle/>
        <a:p>
          <a:endParaRPr lang="en-US"/>
        </a:p>
      </dgm:t>
    </dgm:pt>
    <dgm:pt modelId="{87B1A691-FCD9-47C5-9D18-902986D71553}">
      <dgm:prSet/>
      <dgm:spPr/>
      <dgm:t>
        <a:bodyPr/>
        <a:lstStyle/>
        <a:p>
          <a:r>
            <a:rPr lang="en-US" b="1"/>
            <a:t>Zero latency</a:t>
          </a:r>
          <a:endParaRPr lang="en-US"/>
        </a:p>
      </dgm:t>
    </dgm:pt>
    <dgm:pt modelId="{DC6D2C0D-9DBA-435B-8DEF-67D1E222D052}" type="parTrans" cxnId="{F3D0203A-8418-46F3-B1D3-A9CC634841E5}">
      <dgm:prSet/>
      <dgm:spPr/>
      <dgm:t>
        <a:bodyPr/>
        <a:lstStyle/>
        <a:p>
          <a:endParaRPr lang="en-US"/>
        </a:p>
      </dgm:t>
    </dgm:pt>
    <dgm:pt modelId="{486CF6E2-B1C6-4D1B-8CE1-0B7FBBE73D7B}" type="sibTrans" cxnId="{F3D0203A-8418-46F3-B1D3-A9CC634841E5}">
      <dgm:prSet/>
      <dgm:spPr/>
      <dgm:t>
        <a:bodyPr/>
        <a:lstStyle/>
        <a:p>
          <a:endParaRPr lang="en-US"/>
        </a:p>
      </dgm:t>
    </dgm:pt>
    <dgm:pt modelId="{A22E5E60-47C3-4F59-82EB-DA93DB71BE8A}">
      <dgm:prSet/>
      <dgm:spPr/>
      <dgm:t>
        <a:bodyPr/>
        <a:lstStyle/>
        <a:p>
          <a:r>
            <a:rPr lang="en-US"/>
            <a:t>Blocks via SOAR, WAF, Gateway</a:t>
          </a:r>
          <a:br>
            <a:rPr lang="en-US"/>
          </a:br>
          <a:endParaRPr lang="en-US"/>
        </a:p>
      </dgm:t>
    </dgm:pt>
    <dgm:pt modelId="{95783562-D1BD-4F8F-B048-1987CB750D30}" type="parTrans" cxnId="{E5EC7F27-66D2-4BB1-AB55-0DB7C718E3CC}">
      <dgm:prSet/>
      <dgm:spPr/>
      <dgm:t>
        <a:bodyPr/>
        <a:lstStyle/>
        <a:p>
          <a:endParaRPr lang="en-US"/>
        </a:p>
      </dgm:t>
    </dgm:pt>
    <dgm:pt modelId="{A07AC14A-3D22-46F8-A3F8-804F8E905CD0}" type="sibTrans" cxnId="{E5EC7F27-66D2-4BB1-AB55-0DB7C718E3CC}">
      <dgm:prSet/>
      <dgm:spPr/>
      <dgm:t>
        <a:bodyPr/>
        <a:lstStyle/>
        <a:p>
          <a:endParaRPr lang="en-US"/>
        </a:p>
      </dgm:t>
    </dgm:pt>
    <dgm:pt modelId="{2DB1136A-DA21-4714-96DB-216FF15D1D71}">
      <dgm:prSet/>
      <dgm:spPr/>
      <dgm:t>
        <a:bodyPr/>
        <a:lstStyle/>
        <a:p>
          <a:r>
            <a:rPr lang="en-US" b="1"/>
            <a:t>2 — Full or Partial Protection?</a:t>
          </a:r>
          <a:endParaRPr lang="en-US"/>
        </a:p>
      </dgm:t>
    </dgm:pt>
    <dgm:pt modelId="{6C9797E9-F90A-49E4-9035-D9B3BA6F2BC2}" type="parTrans" cxnId="{626702BD-C654-4CD0-B34A-806CE54D5031}">
      <dgm:prSet/>
      <dgm:spPr/>
      <dgm:t>
        <a:bodyPr/>
        <a:lstStyle/>
        <a:p>
          <a:endParaRPr lang="en-US"/>
        </a:p>
      </dgm:t>
    </dgm:pt>
    <dgm:pt modelId="{C7FD0FE1-0296-4F82-A6F1-D881367223D1}" type="sibTrans" cxnId="{626702BD-C654-4CD0-B34A-806CE54D5031}">
      <dgm:prSet/>
      <dgm:spPr/>
      <dgm:t>
        <a:bodyPr/>
        <a:lstStyle/>
        <a:p>
          <a:endParaRPr lang="en-US"/>
        </a:p>
      </dgm:t>
    </dgm:pt>
    <dgm:pt modelId="{150EE9DA-0498-474A-A831-E32394C24C49}">
      <dgm:prSet/>
      <dgm:spPr/>
      <dgm:t>
        <a:bodyPr/>
        <a:lstStyle/>
        <a:p>
          <a:r>
            <a:rPr lang="en-US" b="1" dirty="0"/>
            <a:t>Full API Protection (Akamai Noname, Salt)</a:t>
          </a:r>
          <a:endParaRPr lang="en-US" dirty="0"/>
        </a:p>
      </dgm:t>
    </dgm:pt>
    <dgm:pt modelId="{7AE93DA3-AF19-4154-99A7-08F92B0E43AF}" type="parTrans" cxnId="{3830843F-AFB3-4AC6-943F-A84F4D7B622F}">
      <dgm:prSet/>
      <dgm:spPr/>
      <dgm:t>
        <a:bodyPr/>
        <a:lstStyle/>
        <a:p>
          <a:endParaRPr lang="en-US"/>
        </a:p>
      </dgm:t>
    </dgm:pt>
    <dgm:pt modelId="{6598E4DE-90B5-4BC0-9A35-0403E84DD4F4}" type="sibTrans" cxnId="{3830843F-AFB3-4AC6-943F-A84F4D7B622F}">
      <dgm:prSet/>
      <dgm:spPr/>
      <dgm:t>
        <a:bodyPr/>
        <a:lstStyle/>
        <a:p>
          <a:endParaRPr lang="en-US"/>
        </a:p>
      </dgm:t>
    </dgm:pt>
    <dgm:pt modelId="{055D1D4F-6DB0-4EEF-BC56-DB375D8792FE}">
      <dgm:prSet/>
      <dgm:spPr/>
      <dgm:t>
        <a:bodyPr/>
        <a:lstStyle/>
        <a:p>
          <a:r>
            <a:rPr lang="en-US"/>
            <a:t>BOLA, schema validation, behavior detection</a:t>
          </a:r>
        </a:p>
      </dgm:t>
    </dgm:pt>
    <dgm:pt modelId="{F10233A6-5FAD-4411-B054-DE40D5B78036}" type="parTrans" cxnId="{7DED3BD3-484A-4BFE-9463-A692328477DA}">
      <dgm:prSet/>
      <dgm:spPr/>
      <dgm:t>
        <a:bodyPr/>
        <a:lstStyle/>
        <a:p>
          <a:endParaRPr lang="en-US"/>
        </a:p>
      </dgm:t>
    </dgm:pt>
    <dgm:pt modelId="{244FFD93-A735-4DE1-936D-B8E7564D9D23}" type="sibTrans" cxnId="{7DED3BD3-484A-4BFE-9463-A692328477DA}">
      <dgm:prSet/>
      <dgm:spPr/>
      <dgm:t>
        <a:bodyPr/>
        <a:lstStyle/>
        <a:p>
          <a:endParaRPr lang="en-US"/>
        </a:p>
      </dgm:t>
    </dgm:pt>
    <dgm:pt modelId="{66537415-3AF6-48FF-8DF7-16E588ABF3F6}">
      <dgm:prSet/>
      <dgm:spPr/>
      <dgm:t>
        <a:bodyPr/>
        <a:lstStyle/>
        <a:p>
          <a:r>
            <a:rPr lang="en-US" b="1"/>
            <a:t>Partial Protection (Kong, Traefik, ADC APIs)</a:t>
          </a:r>
          <a:endParaRPr lang="en-US"/>
        </a:p>
      </dgm:t>
    </dgm:pt>
    <dgm:pt modelId="{1FF03340-1084-441C-A98C-C614C0EE2DA9}" type="parTrans" cxnId="{45962321-2A87-4B89-8A1B-F9272F67D012}">
      <dgm:prSet/>
      <dgm:spPr/>
      <dgm:t>
        <a:bodyPr/>
        <a:lstStyle/>
        <a:p>
          <a:endParaRPr lang="en-US"/>
        </a:p>
      </dgm:t>
    </dgm:pt>
    <dgm:pt modelId="{3A552E6C-16C4-47A8-B0DB-F8BAFD51EE03}" type="sibTrans" cxnId="{45962321-2A87-4B89-8A1B-F9272F67D012}">
      <dgm:prSet/>
      <dgm:spPr/>
      <dgm:t>
        <a:bodyPr/>
        <a:lstStyle/>
        <a:p>
          <a:endParaRPr lang="en-US"/>
        </a:p>
      </dgm:t>
    </dgm:pt>
    <dgm:pt modelId="{F0FED039-542D-49D1-A87E-CE1905ECEDA8}">
      <dgm:prSet/>
      <dgm:spPr/>
      <dgm:t>
        <a:bodyPr/>
        <a:lstStyle/>
        <a:p>
          <a:r>
            <a:rPr lang="en-US"/>
            <a:t>CORS, rate limiting, bot filters only</a:t>
          </a:r>
        </a:p>
      </dgm:t>
    </dgm:pt>
    <dgm:pt modelId="{AAAB3CE0-B5D4-421A-8B02-DCB4473D75E7}" type="parTrans" cxnId="{D8F64CB8-992A-4806-A304-CA3FA4D5AD65}">
      <dgm:prSet/>
      <dgm:spPr/>
      <dgm:t>
        <a:bodyPr/>
        <a:lstStyle/>
        <a:p>
          <a:endParaRPr lang="en-US"/>
        </a:p>
      </dgm:t>
    </dgm:pt>
    <dgm:pt modelId="{5AC89A99-EF97-4EDE-8F7A-DE0CED372957}" type="sibTrans" cxnId="{D8F64CB8-992A-4806-A304-CA3FA4D5AD65}">
      <dgm:prSet/>
      <dgm:spPr/>
      <dgm:t>
        <a:bodyPr/>
        <a:lstStyle/>
        <a:p>
          <a:endParaRPr lang="en-US"/>
        </a:p>
      </dgm:t>
    </dgm:pt>
    <dgm:pt modelId="{46803C29-824E-4CF0-B322-F092D0628CC6}">
      <dgm:prSet/>
      <dgm:spPr/>
      <dgm:t>
        <a:bodyPr/>
        <a:lstStyle/>
        <a:p>
          <a:r>
            <a:rPr lang="en-US" b="1"/>
            <a:t>3 — Discovery or Blind Spots?</a:t>
          </a:r>
          <a:endParaRPr lang="en-US"/>
        </a:p>
      </dgm:t>
    </dgm:pt>
    <dgm:pt modelId="{2FB13E57-097A-4210-A719-1E7D791D6735}" type="parTrans" cxnId="{8817DD2B-48BA-45BD-80E6-93BAEC4F3D6B}">
      <dgm:prSet/>
      <dgm:spPr/>
      <dgm:t>
        <a:bodyPr/>
        <a:lstStyle/>
        <a:p>
          <a:endParaRPr lang="en-US"/>
        </a:p>
      </dgm:t>
    </dgm:pt>
    <dgm:pt modelId="{95F95C84-2325-4604-9A5C-C5CE77500BE0}" type="sibTrans" cxnId="{8817DD2B-48BA-45BD-80E6-93BAEC4F3D6B}">
      <dgm:prSet/>
      <dgm:spPr/>
      <dgm:t>
        <a:bodyPr/>
        <a:lstStyle/>
        <a:p>
          <a:endParaRPr lang="en-US"/>
        </a:p>
      </dgm:t>
    </dgm:pt>
    <dgm:pt modelId="{CE777C7E-70E3-419F-ABB0-2A8081A42BD7}">
      <dgm:prSet/>
      <dgm:spPr/>
      <dgm:t>
        <a:bodyPr/>
        <a:lstStyle/>
        <a:p>
          <a:r>
            <a:rPr lang="en-US" dirty="0"/>
            <a:t>Can your system </a:t>
          </a:r>
          <a:r>
            <a:rPr lang="en-US" b="1" dirty="0"/>
            <a:t>auto-detect Shadow APIs</a:t>
          </a:r>
          <a:r>
            <a:rPr lang="en-US" dirty="0"/>
            <a:t>?</a:t>
          </a:r>
        </a:p>
      </dgm:t>
    </dgm:pt>
    <dgm:pt modelId="{81AFF75F-5DFD-4C9B-83A2-B4117969AC57}" type="parTrans" cxnId="{D3E54A1E-FEAB-4584-8513-49AAB08FF467}">
      <dgm:prSet/>
      <dgm:spPr/>
      <dgm:t>
        <a:bodyPr/>
        <a:lstStyle/>
        <a:p>
          <a:endParaRPr lang="en-US"/>
        </a:p>
      </dgm:t>
    </dgm:pt>
    <dgm:pt modelId="{B3ECF475-446D-4877-BFD0-E420F2040916}" type="sibTrans" cxnId="{D3E54A1E-FEAB-4584-8513-49AAB08FF467}">
      <dgm:prSet/>
      <dgm:spPr/>
      <dgm:t>
        <a:bodyPr/>
        <a:lstStyle/>
        <a:p>
          <a:endParaRPr lang="en-US"/>
        </a:p>
      </dgm:t>
    </dgm:pt>
    <dgm:pt modelId="{6F7AD7A8-31C3-BC4B-8057-A748CEA2E41A}" type="pres">
      <dgm:prSet presAssocID="{67281F55-58FC-4F31-8A4D-149B0C2E0A67}" presName="linear" presStyleCnt="0">
        <dgm:presLayoutVars>
          <dgm:animLvl val="lvl"/>
          <dgm:resizeHandles val="exact"/>
        </dgm:presLayoutVars>
      </dgm:prSet>
      <dgm:spPr/>
    </dgm:pt>
    <dgm:pt modelId="{889665C5-7353-B44C-B090-B939AF2CAF9C}" type="pres">
      <dgm:prSet presAssocID="{09B9F3AA-B0CA-401B-9642-7C5BDDC9486C}" presName="parentText" presStyleLbl="node1" presStyleIdx="0" presStyleCnt="3">
        <dgm:presLayoutVars>
          <dgm:chMax val="0"/>
          <dgm:bulletEnabled val="1"/>
        </dgm:presLayoutVars>
      </dgm:prSet>
      <dgm:spPr/>
    </dgm:pt>
    <dgm:pt modelId="{AB2C234B-382D-8D4D-8C81-F9182D9C29E0}" type="pres">
      <dgm:prSet presAssocID="{09B9F3AA-B0CA-401B-9642-7C5BDDC9486C}" presName="childText" presStyleLbl="revTx" presStyleIdx="0" presStyleCnt="3">
        <dgm:presLayoutVars>
          <dgm:bulletEnabled val="1"/>
        </dgm:presLayoutVars>
      </dgm:prSet>
      <dgm:spPr/>
    </dgm:pt>
    <dgm:pt modelId="{CF361716-9DA9-A94F-BE47-1E78BB90B65E}" type="pres">
      <dgm:prSet presAssocID="{2DB1136A-DA21-4714-96DB-216FF15D1D71}" presName="parentText" presStyleLbl="node1" presStyleIdx="1" presStyleCnt="3">
        <dgm:presLayoutVars>
          <dgm:chMax val="0"/>
          <dgm:bulletEnabled val="1"/>
        </dgm:presLayoutVars>
      </dgm:prSet>
      <dgm:spPr/>
    </dgm:pt>
    <dgm:pt modelId="{14436C23-A141-4248-9AEC-9E824E74C7AF}" type="pres">
      <dgm:prSet presAssocID="{2DB1136A-DA21-4714-96DB-216FF15D1D71}" presName="childText" presStyleLbl="revTx" presStyleIdx="1" presStyleCnt="3">
        <dgm:presLayoutVars>
          <dgm:bulletEnabled val="1"/>
        </dgm:presLayoutVars>
      </dgm:prSet>
      <dgm:spPr/>
    </dgm:pt>
    <dgm:pt modelId="{C2A8581F-5867-4045-A78F-57FB641B45AA}" type="pres">
      <dgm:prSet presAssocID="{46803C29-824E-4CF0-B322-F092D0628CC6}" presName="parentText" presStyleLbl="node1" presStyleIdx="2" presStyleCnt="3">
        <dgm:presLayoutVars>
          <dgm:chMax val="0"/>
          <dgm:bulletEnabled val="1"/>
        </dgm:presLayoutVars>
      </dgm:prSet>
      <dgm:spPr/>
    </dgm:pt>
    <dgm:pt modelId="{B0F7EFC5-1B2F-C447-9A0B-D0B4573BD1F4}" type="pres">
      <dgm:prSet presAssocID="{46803C29-824E-4CF0-B322-F092D0628CC6}" presName="childText" presStyleLbl="revTx" presStyleIdx="2" presStyleCnt="3">
        <dgm:presLayoutVars>
          <dgm:bulletEnabled val="1"/>
        </dgm:presLayoutVars>
      </dgm:prSet>
      <dgm:spPr/>
    </dgm:pt>
  </dgm:ptLst>
  <dgm:cxnLst>
    <dgm:cxn modelId="{25C4E70F-8C57-4475-869F-718CC637C6D7}" srcId="{BE03537A-C1E6-4410-AB03-670B8555629D}" destId="{43D56D47-E8BD-4810-9A04-DAD9075BEEF9}" srcOrd="0" destOrd="0" parTransId="{01BEEF39-5E51-4BEC-B68C-F9325DE00A71}" sibTransId="{A24A180D-19CE-4487-A9D9-DCE75E4DF179}"/>
    <dgm:cxn modelId="{139A4710-8099-4512-8779-9EB7D5E124AA}" srcId="{EF89833F-FABC-44F8-B454-DA17E7AE0B81}" destId="{F5A24C0E-3694-4F4C-BDAF-361BB8867822}" srcOrd="1" destOrd="0" parTransId="{1130D8FC-59C8-45FD-86BE-3D41AA9C0663}" sibTransId="{A06F3A3F-E020-4368-848C-DB13CD9EAD44}"/>
    <dgm:cxn modelId="{5E06E216-BA18-4A42-9F11-3BEB1C7042B3}" type="presOf" srcId="{F0FED039-542D-49D1-A87E-CE1905ECEDA8}" destId="{14436C23-A141-4248-9AEC-9E824E74C7AF}" srcOrd="0" destOrd="3" presId="urn:microsoft.com/office/officeart/2005/8/layout/vList2"/>
    <dgm:cxn modelId="{D3E54A1E-FEAB-4584-8513-49AAB08FF467}" srcId="{46803C29-824E-4CF0-B322-F092D0628CC6}" destId="{CE777C7E-70E3-419F-ABB0-2A8081A42BD7}" srcOrd="0" destOrd="0" parTransId="{81AFF75F-5DFD-4C9B-83A2-B4117969AC57}" sibTransId="{B3ECF475-446D-4877-BFD0-E420F2040916}"/>
    <dgm:cxn modelId="{3AFF931E-3122-DB4E-AAF4-16D9CC630330}" type="presOf" srcId="{150EE9DA-0498-474A-A831-E32394C24C49}" destId="{14436C23-A141-4248-9AEC-9E824E74C7AF}" srcOrd="0" destOrd="0" presId="urn:microsoft.com/office/officeart/2005/8/layout/vList2"/>
    <dgm:cxn modelId="{45962321-2A87-4B89-8A1B-F9272F67D012}" srcId="{2DB1136A-DA21-4714-96DB-216FF15D1D71}" destId="{66537415-3AF6-48FF-8DF7-16E588ABF3F6}" srcOrd="1" destOrd="0" parTransId="{1FF03340-1084-441C-A98C-C614C0EE2DA9}" sibTransId="{3A552E6C-16C4-47A8-B0DB-F8BAFD51EE03}"/>
    <dgm:cxn modelId="{F5267E21-EC47-49B4-93F0-4BF7F377CC14}" srcId="{67281F55-58FC-4F31-8A4D-149B0C2E0A67}" destId="{09B9F3AA-B0CA-401B-9642-7C5BDDC9486C}" srcOrd="0" destOrd="0" parTransId="{CD4EE447-2BBE-4A8E-B912-9382E4BEDF00}" sibTransId="{F7316507-7BF8-42F8-A893-B4075C9A301D}"/>
    <dgm:cxn modelId="{E5EC7F27-66D2-4BB1-AB55-0DB7C718E3CC}" srcId="{BE03537A-C1E6-4410-AB03-670B8555629D}" destId="{A22E5E60-47C3-4F59-82EB-DA93DB71BE8A}" srcOrd="2" destOrd="0" parTransId="{95783562-D1BD-4F8F-B048-1987CB750D30}" sibTransId="{A07AC14A-3D22-46F8-A3F8-804F8E905CD0}"/>
    <dgm:cxn modelId="{8F66C129-6C23-EE4B-9C81-BE27F61DFA96}" type="presOf" srcId="{09B9F3AA-B0CA-401B-9642-7C5BDDC9486C}" destId="{889665C5-7353-B44C-B090-B939AF2CAF9C}" srcOrd="0" destOrd="0" presId="urn:microsoft.com/office/officeart/2005/8/layout/vList2"/>
    <dgm:cxn modelId="{8817DD2B-48BA-45BD-80E6-93BAEC4F3D6B}" srcId="{67281F55-58FC-4F31-8A4D-149B0C2E0A67}" destId="{46803C29-824E-4CF0-B322-F092D0628CC6}" srcOrd="2" destOrd="0" parTransId="{2FB13E57-097A-4210-A719-1E7D791D6735}" sibTransId="{95F95C84-2325-4604-9A5C-C5CE77500BE0}"/>
    <dgm:cxn modelId="{F3D0203A-8418-46F3-B1D3-A9CC634841E5}" srcId="{BE03537A-C1E6-4410-AB03-670B8555629D}" destId="{87B1A691-FCD9-47C5-9D18-902986D71553}" srcOrd="1" destOrd="0" parTransId="{DC6D2C0D-9DBA-435B-8DEF-67D1E222D052}" sibTransId="{486CF6E2-B1C6-4D1B-8CE1-0B7FBBE73D7B}"/>
    <dgm:cxn modelId="{3830843F-AFB3-4AC6-943F-A84F4D7B622F}" srcId="{2DB1136A-DA21-4714-96DB-216FF15D1D71}" destId="{150EE9DA-0498-474A-A831-E32394C24C49}" srcOrd="0" destOrd="0" parTransId="{7AE93DA3-AF19-4154-99A7-08F92B0E43AF}" sibTransId="{6598E4DE-90B5-4BC0-9A35-0403E84DD4F4}"/>
    <dgm:cxn modelId="{B7A2D34D-A4EE-3141-9D4C-36AF01946A86}" type="presOf" srcId="{CE777C7E-70E3-419F-ABB0-2A8081A42BD7}" destId="{B0F7EFC5-1B2F-C447-9A0B-D0B4573BD1F4}" srcOrd="0" destOrd="0" presId="urn:microsoft.com/office/officeart/2005/8/layout/vList2"/>
    <dgm:cxn modelId="{63679457-8EA5-5C49-95AE-C87B744373A3}" type="presOf" srcId="{2DB1136A-DA21-4714-96DB-216FF15D1D71}" destId="{CF361716-9DA9-A94F-BE47-1E78BB90B65E}" srcOrd="0" destOrd="0" presId="urn:microsoft.com/office/officeart/2005/8/layout/vList2"/>
    <dgm:cxn modelId="{D294555A-58E7-2942-864C-7F127250812F}" type="presOf" srcId="{EF89833F-FABC-44F8-B454-DA17E7AE0B81}" destId="{AB2C234B-382D-8D4D-8C81-F9182D9C29E0}" srcOrd="0" destOrd="0" presId="urn:microsoft.com/office/officeart/2005/8/layout/vList2"/>
    <dgm:cxn modelId="{33B0705C-9A93-4C03-BCDC-30D9ABE0D665}" srcId="{EF89833F-FABC-44F8-B454-DA17E7AE0B81}" destId="{323F41AE-A189-4E19-9FAC-8689D8AA66EF}" srcOrd="0" destOrd="0" parTransId="{58D8CB3A-DDB3-400E-8CDB-828F398E1A43}" sibTransId="{C9E8C0D7-052C-4D8C-A6E1-7B36F5B673F0}"/>
    <dgm:cxn modelId="{23B3D85C-6838-DE48-836C-8BCFB505E9B8}" type="presOf" srcId="{87B1A691-FCD9-47C5-9D18-902986D71553}" destId="{AB2C234B-382D-8D4D-8C81-F9182D9C29E0}" srcOrd="0" destOrd="5" presId="urn:microsoft.com/office/officeart/2005/8/layout/vList2"/>
    <dgm:cxn modelId="{1CDFF95F-051C-924E-A260-CBFC3E88E37F}" type="presOf" srcId="{66537415-3AF6-48FF-8DF7-16E588ABF3F6}" destId="{14436C23-A141-4248-9AEC-9E824E74C7AF}" srcOrd="0" destOrd="2" presId="urn:microsoft.com/office/officeart/2005/8/layout/vList2"/>
    <dgm:cxn modelId="{5A069A61-FB25-654F-91B7-217E4F9D9065}" type="presOf" srcId="{323F41AE-A189-4E19-9FAC-8689D8AA66EF}" destId="{AB2C234B-382D-8D4D-8C81-F9182D9C29E0}" srcOrd="0" destOrd="1" presId="urn:microsoft.com/office/officeart/2005/8/layout/vList2"/>
    <dgm:cxn modelId="{668EB067-9B28-B54D-B207-916F0C3D4DF9}" type="presOf" srcId="{055D1D4F-6DB0-4EEF-BC56-DB375D8792FE}" destId="{14436C23-A141-4248-9AEC-9E824E74C7AF}" srcOrd="0" destOrd="1" presId="urn:microsoft.com/office/officeart/2005/8/layout/vList2"/>
    <dgm:cxn modelId="{A35BF06B-89D4-4256-884A-84A7C0F5FE93}" srcId="{09B9F3AA-B0CA-401B-9642-7C5BDDC9486C}" destId="{EF89833F-FABC-44F8-B454-DA17E7AE0B81}" srcOrd="0" destOrd="0" parTransId="{B49E1C56-1A06-474E-9659-888858644F64}" sibTransId="{F4DE971D-77A3-4CD0-A16D-B5948AADB762}"/>
    <dgm:cxn modelId="{C7D45873-7B1F-426E-ACEC-29F108430361}" srcId="{09B9F3AA-B0CA-401B-9642-7C5BDDC9486C}" destId="{BE03537A-C1E6-4410-AB03-670B8555629D}" srcOrd="1" destOrd="0" parTransId="{C0A627AB-B551-4BAA-9C1F-AA33018A120D}" sibTransId="{CA7CE0B3-2A0F-48D1-8439-D7BCDBC8307F}"/>
    <dgm:cxn modelId="{51AC7076-BCB6-744A-AC8B-1AEC9CF5AD62}" type="presOf" srcId="{43D56D47-E8BD-4810-9A04-DAD9075BEEF9}" destId="{AB2C234B-382D-8D4D-8C81-F9182D9C29E0}" srcOrd="0" destOrd="4" presId="urn:microsoft.com/office/officeart/2005/8/layout/vList2"/>
    <dgm:cxn modelId="{9FA2017D-071E-724C-BC9D-02ABC07CB991}" type="presOf" srcId="{BE03537A-C1E6-4410-AB03-670B8555629D}" destId="{AB2C234B-382D-8D4D-8C81-F9182D9C29E0}" srcOrd="0" destOrd="3" presId="urn:microsoft.com/office/officeart/2005/8/layout/vList2"/>
    <dgm:cxn modelId="{A4B3DC8B-8CDC-0842-97D9-ABA16120E91E}" type="presOf" srcId="{F5A24C0E-3694-4F4C-BDAF-361BB8867822}" destId="{AB2C234B-382D-8D4D-8C81-F9182D9C29E0}" srcOrd="0" destOrd="2" presId="urn:microsoft.com/office/officeart/2005/8/layout/vList2"/>
    <dgm:cxn modelId="{246190A0-C041-0041-BC0E-CC59F92C778B}" type="presOf" srcId="{46803C29-824E-4CF0-B322-F092D0628CC6}" destId="{C2A8581F-5867-4045-A78F-57FB641B45AA}" srcOrd="0" destOrd="0" presId="urn:microsoft.com/office/officeart/2005/8/layout/vList2"/>
    <dgm:cxn modelId="{D8F64CB8-992A-4806-A304-CA3FA4D5AD65}" srcId="{66537415-3AF6-48FF-8DF7-16E588ABF3F6}" destId="{F0FED039-542D-49D1-A87E-CE1905ECEDA8}" srcOrd="0" destOrd="0" parTransId="{AAAB3CE0-B5D4-421A-8B02-DCB4473D75E7}" sibTransId="{5AC89A99-EF97-4EDE-8F7A-DE0CED372957}"/>
    <dgm:cxn modelId="{626702BD-C654-4CD0-B34A-806CE54D5031}" srcId="{67281F55-58FC-4F31-8A4D-149B0C2E0A67}" destId="{2DB1136A-DA21-4714-96DB-216FF15D1D71}" srcOrd="1" destOrd="0" parTransId="{6C9797E9-F90A-49E4-9035-D9B3BA6F2BC2}" sibTransId="{C7FD0FE1-0296-4F82-A6F1-D881367223D1}"/>
    <dgm:cxn modelId="{7DED3BD3-484A-4BFE-9463-A692328477DA}" srcId="{150EE9DA-0498-474A-A831-E32394C24C49}" destId="{055D1D4F-6DB0-4EEF-BC56-DB375D8792FE}" srcOrd="0" destOrd="0" parTransId="{F10233A6-5FAD-4411-B054-DE40D5B78036}" sibTransId="{244FFD93-A735-4DE1-936D-B8E7564D9D23}"/>
    <dgm:cxn modelId="{662E7AE9-713D-6847-AACB-1E30BD6AC0ED}" type="presOf" srcId="{A22E5E60-47C3-4F59-82EB-DA93DB71BE8A}" destId="{AB2C234B-382D-8D4D-8C81-F9182D9C29E0}" srcOrd="0" destOrd="6" presId="urn:microsoft.com/office/officeart/2005/8/layout/vList2"/>
    <dgm:cxn modelId="{63AF94EE-6591-7E45-AD07-773C1BAC6A4A}" type="presOf" srcId="{67281F55-58FC-4F31-8A4D-149B0C2E0A67}" destId="{6F7AD7A8-31C3-BC4B-8057-A748CEA2E41A}" srcOrd="0" destOrd="0" presId="urn:microsoft.com/office/officeart/2005/8/layout/vList2"/>
    <dgm:cxn modelId="{9409D7B9-CA5A-F04B-B6BD-08E441FB588D}" type="presParOf" srcId="{6F7AD7A8-31C3-BC4B-8057-A748CEA2E41A}" destId="{889665C5-7353-B44C-B090-B939AF2CAF9C}" srcOrd="0" destOrd="0" presId="urn:microsoft.com/office/officeart/2005/8/layout/vList2"/>
    <dgm:cxn modelId="{087FD3C4-A183-2244-86A2-30B769547CCB}" type="presParOf" srcId="{6F7AD7A8-31C3-BC4B-8057-A748CEA2E41A}" destId="{AB2C234B-382D-8D4D-8C81-F9182D9C29E0}" srcOrd="1" destOrd="0" presId="urn:microsoft.com/office/officeart/2005/8/layout/vList2"/>
    <dgm:cxn modelId="{3A2AE2C1-7063-3C46-B3FC-867F4A068334}" type="presParOf" srcId="{6F7AD7A8-31C3-BC4B-8057-A748CEA2E41A}" destId="{CF361716-9DA9-A94F-BE47-1E78BB90B65E}" srcOrd="2" destOrd="0" presId="urn:microsoft.com/office/officeart/2005/8/layout/vList2"/>
    <dgm:cxn modelId="{DC8A0CB8-BB28-6743-B2B7-3B02BBD0BC4E}" type="presParOf" srcId="{6F7AD7A8-31C3-BC4B-8057-A748CEA2E41A}" destId="{14436C23-A141-4248-9AEC-9E824E74C7AF}" srcOrd="3" destOrd="0" presId="urn:microsoft.com/office/officeart/2005/8/layout/vList2"/>
    <dgm:cxn modelId="{202ECDD2-1451-4A48-864E-A90ED147EBAD}" type="presParOf" srcId="{6F7AD7A8-31C3-BC4B-8057-A748CEA2E41A}" destId="{C2A8581F-5867-4045-A78F-57FB641B45AA}" srcOrd="4" destOrd="0" presId="urn:microsoft.com/office/officeart/2005/8/layout/vList2"/>
    <dgm:cxn modelId="{E587E67A-EAF7-2C4D-87FE-79F475C81833}" type="presParOf" srcId="{6F7AD7A8-31C3-BC4B-8057-A748CEA2E41A}" destId="{B0F7EFC5-1B2F-C447-9A0B-D0B4573BD1F4}"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295512E-7713-48E5-B74C-04294F444914}" type="doc">
      <dgm:prSet loTypeId="urn:microsoft.com/office/officeart/2005/8/layout/process4" loCatId="process" qsTypeId="urn:microsoft.com/office/officeart/2005/8/quickstyle/simple1" qsCatId="simple" csTypeId="urn:microsoft.com/office/officeart/2005/8/colors/accent1_2" csCatId="accent1"/>
      <dgm:spPr/>
      <dgm:t>
        <a:bodyPr/>
        <a:lstStyle/>
        <a:p>
          <a:endParaRPr lang="en-US"/>
        </a:p>
      </dgm:t>
    </dgm:pt>
    <dgm:pt modelId="{3C753103-1ECD-4806-84F4-474BBF3B1235}">
      <dgm:prSet/>
      <dgm:spPr/>
      <dgm:t>
        <a:bodyPr/>
        <a:lstStyle/>
        <a:p>
          <a:r>
            <a:rPr lang="en-US" i="1"/>
            <a:t>Many API incidents don’t happen because authentication fails. They happen because authorization fails.</a:t>
          </a:r>
          <a:endParaRPr lang="en-US"/>
        </a:p>
      </dgm:t>
    </dgm:pt>
    <dgm:pt modelId="{895EA60C-EFAF-4618-B11D-E54D83E0227C}" type="parTrans" cxnId="{2C20F139-9B2B-412D-B93C-575BE977B201}">
      <dgm:prSet/>
      <dgm:spPr/>
      <dgm:t>
        <a:bodyPr/>
        <a:lstStyle/>
        <a:p>
          <a:endParaRPr lang="en-US"/>
        </a:p>
      </dgm:t>
    </dgm:pt>
    <dgm:pt modelId="{4BA9C8F6-64F6-4A10-9492-14087E7D3E31}" type="sibTrans" cxnId="{2C20F139-9B2B-412D-B93C-575BE977B201}">
      <dgm:prSet/>
      <dgm:spPr/>
      <dgm:t>
        <a:bodyPr/>
        <a:lstStyle/>
        <a:p>
          <a:endParaRPr lang="en-US"/>
        </a:p>
      </dgm:t>
    </dgm:pt>
    <dgm:pt modelId="{66CDCB9B-5494-437E-A5C3-1EF5D5AB554B}">
      <dgm:prSet/>
      <dgm:spPr/>
      <dgm:t>
        <a:bodyPr/>
        <a:lstStyle/>
        <a:p>
          <a:r>
            <a:rPr lang="en-US"/>
            <a:t>Most gateways and basic API protections validate the token and stop there.  They don’t check things like:</a:t>
          </a:r>
        </a:p>
      </dgm:t>
    </dgm:pt>
    <dgm:pt modelId="{A3F329C0-A91B-4F8F-8908-0D07B9C2412A}" type="parTrans" cxnId="{BF0CEF2F-BA14-492D-80EC-543882A81C32}">
      <dgm:prSet/>
      <dgm:spPr/>
      <dgm:t>
        <a:bodyPr/>
        <a:lstStyle/>
        <a:p>
          <a:endParaRPr lang="en-US"/>
        </a:p>
      </dgm:t>
    </dgm:pt>
    <dgm:pt modelId="{ED6C73AB-E4E0-4658-80DB-D3A91F7F6443}" type="sibTrans" cxnId="{BF0CEF2F-BA14-492D-80EC-543882A81C32}">
      <dgm:prSet/>
      <dgm:spPr/>
      <dgm:t>
        <a:bodyPr/>
        <a:lstStyle/>
        <a:p>
          <a:endParaRPr lang="en-US"/>
        </a:p>
      </dgm:t>
    </dgm:pt>
    <dgm:pt modelId="{9A242A69-A574-461D-B207-D19A9A7ACE44}">
      <dgm:prSet/>
      <dgm:spPr/>
      <dgm:t>
        <a:bodyPr/>
        <a:lstStyle/>
        <a:p>
          <a:r>
            <a:rPr lang="en-US"/>
            <a:t>Is this user supposed to access this specific object?</a:t>
          </a:r>
        </a:p>
      </dgm:t>
    </dgm:pt>
    <dgm:pt modelId="{F539A510-ECA2-476A-A3C9-49BAE745F022}" type="parTrans" cxnId="{B0519134-9807-4693-9D81-4570178DC5E4}">
      <dgm:prSet/>
      <dgm:spPr/>
      <dgm:t>
        <a:bodyPr/>
        <a:lstStyle/>
        <a:p>
          <a:endParaRPr lang="en-US"/>
        </a:p>
      </dgm:t>
    </dgm:pt>
    <dgm:pt modelId="{0665182B-7BB0-4029-AC13-B22EDACE32ED}" type="sibTrans" cxnId="{B0519134-9807-4693-9D81-4570178DC5E4}">
      <dgm:prSet/>
      <dgm:spPr/>
      <dgm:t>
        <a:bodyPr/>
        <a:lstStyle/>
        <a:p>
          <a:endParaRPr lang="en-US"/>
        </a:p>
      </dgm:t>
    </dgm:pt>
    <dgm:pt modelId="{B3AFD42D-0FEE-402F-8249-AE48B786C64B}">
      <dgm:prSet/>
      <dgm:spPr/>
      <dgm:t>
        <a:bodyPr/>
        <a:lstStyle/>
        <a:p>
          <a:r>
            <a:rPr lang="en-US"/>
            <a:t>Does this request match normal behavior?</a:t>
          </a:r>
        </a:p>
      </dgm:t>
    </dgm:pt>
    <dgm:pt modelId="{71C0CBA9-3FA1-40D6-B0C2-351759A08BB8}" type="parTrans" cxnId="{69601F80-D6FD-4BE6-A21F-7CBD382CB4F3}">
      <dgm:prSet/>
      <dgm:spPr/>
      <dgm:t>
        <a:bodyPr/>
        <a:lstStyle/>
        <a:p>
          <a:endParaRPr lang="en-US"/>
        </a:p>
      </dgm:t>
    </dgm:pt>
    <dgm:pt modelId="{E0DA6BFB-FE45-4A0D-87EC-1CA05A1AF1D8}" type="sibTrans" cxnId="{69601F80-D6FD-4BE6-A21F-7CBD382CB4F3}">
      <dgm:prSet/>
      <dgm:spPr/>
      <dgm:t>
        <a:bodyPr/>
        <a:lstStyle/>
        <a:p>
          <a:endParaRPr lang="en-US"/>
        </a:p>
      </dgm:t>
    </dgm:pt>
    <dgm:pt modelId="{7C85F602-B8FA-4BB0-B44D-FD148607E4A1}">
      <dgm:prSet/>
      <dgm:spPr/>
      <dgm:t>
        <a:bodyPr/>
        <a:lstStyle/>
        <a:p>
          <a:r>
            <a:rPr lang="en-US"/>
            <a:t>Is this parameter referencing someone else’s data?</a:t>
          </a:r>
        </a:p>
      </dgm:t>
    </dgm:pt>
    <dgm:pt modelId="{F2924425-75BB-4B83-8198-AC5F3BC70CA3}" type="parTrans" cxnId="{822B5FC3-AEE5-4DC6-AE39-3E4E21E5086D}">
      <dgm:prSet/>
      <dgm:spPr/>
      <dgm:t>
        <a:bodyPr/>
        <a:lstStyle/>
        <a:p>
          <a:endParaRPr lang="en-US"/>
        </a:p>
      </dgm:t>
    </dgm:pt>
    <dgm:pt modelId="{61E4E9E3-298F-400D-A674-A8902D1B6729}" type="sibTrans" cxnId="{822B5FC3-AEE5-4DC6-AE39-3E4E21E5086D}">
      <dgm:prSet/>
      <dgm:spPr/>
      <dgm:t>
        <a:bodyPr/>
        <a:lstStyle/>
        <a:p>
          <a:endParaRPr lang="en-US"/>
        </a:p>
      </dgm:t>
    </dgm:pt>
    <dgm:pt modelId="{46D5EC80-763B-7A4A-82AB-DE027CFADE3B}" type="pres">
      <dgm:prSet presAssocID="{A295512E-7713-48E5-B74C-04294F444914}" presName="Name0" presStyleCnt="0">
        <dgm:presLayoutVars>
          <dgm:dir/>
          <dgm:animLvl val="lvl"/>
          <dgm:resizeHandles val="exact"/>
        </dgm:presLayoutVars>
      </dgm:prSet>
      <dgm:spPr/>
    </dgm:pt>
    <dgm:pt modelId="{D3D3EE27-E1B3-644E-A63E-1DDFBFB34874}" type="pres">
      <dgm:prSet presAssocID="{66CDCB9B-5494-437E-A5C3-1EF5D5AB554B}" presName="boxAndChildren" presStyleCnt="0"/>
      <dgm:spPr/>
    </dgm:pt>
    <dgm:pt modelId="{2262DBFA-2D77-984E-9EEE-48A44F58E019}" type="pres">
      <dgm:prSet presAssocID="{66CDCB9B-5494-437E-A5C3-1EF5D5AB554B}" presName="parentTextBox" presStyleLbl="node1" presStyleIdx="0" presStyleCnt="2"/>
      <dgm:spPr/>
    </dgm:pt>
    <dgm:pt modelId="{CD731B08-B392-3A4F-AA04-14B9690D1B13}" type="pres">
      <dgm:prSet presAssocID="{66CDCB9B-5494-437E-A5C3-1EF5D5AB554B}" presName="entireBox" presStyleLbl="node1" presStyleIdx="0" presStyleCnt="2"/>
      <dgm:spPr/>
    </dgm:pt>
    <dgm:pt modelId="{565904B3-6538-E44A-8ED6-8F7398C59DA7}" type="pres">
      <dgm:prSet presAssocID="{66CDCB9B-5494-437E-A5C3-1EF5D5AB554B}" presName="descendantBox" presStyleCnt="0"/>
      <dgm:spPr/>
    </dgm:pt>
    <dgm:pt modelId="{B645EFDF-FA32-044D-A534-3922D817FBCC}" type="pres">
      <dgm:prSet presAssocID="{9A242A69-A574-461D-B207-D19A9A7ACE44}" presName="childTextBox" presStyleLbl="fgAccFollowNode1" presStyleIdx="0" presStyleCnt="3">
        <dgm:presLayoutVars>
          <dgm:bulletEnabled val="1"/>
        </dgm:presLayoutVars>
      </dgm:prSet>
      <dgm:spPr/>
    </dgm:pt>
    <dgm:pt modelId="{4472FCFD-892D-5F44-8C8D-B366B89D134B}" type="pres">
      <dgm:prSet presAssocID="{B3AFD42D-0FEE-402F-8249-AE48B786C64B}" presName="childTextBox" presStyleLbl="fgAccFollowNode1" presStyleIdx="1" presStyleCnt="3">
        <dgm:presLayoutVars>
          <dgm:bulletEnabled val="1"/>
        </dgm:presLayoutVars>
      </dgm:prSet>
      <dgm:spPr/>
    </dgm:pt>
    <dgm:pt modelId="{9C4969D0-E012-744C-A135-2311B33868B0}" type="pres">
      <dgm:prSet presAssocID="{7C85F602-B8FA-4BB0-B44D-FD148607E4A1}" presName="childTextBox" presStyleLbl="fgAccFollowNode1" presStyleIdx="2" presStyleCnt="3">
        <dgm:presLayoutVars>
          <dgm:bulletEnabled val="1"/>
        </dgm:presLayoutVars>
      </dgm:prSet>
      <dgm:spPr/>
    </dgm:pt>
    <dgm:pt modelId="{6EEE4A64-9E24-CD40-9876-62E089DC5FED}" type="pres">
      <dgm:prSet presAssocID="{4BA9C8F6-64F6-4A10-9492-14087E7D3E31}" presName="sp" presStyleCnt="0"/>
      <dgm:spPr/>
    </dgm:pt>
    <dgm:pt modelId="{069738B1-9661-E940-A7ED-DDC2139CBF81}" type="pres">
      <dgm:prSet presAssocID="{3C753103-1ECD-4806-84F4-474BBF3B1235}" presName="arrowAndChildren" presStyleCnt="0"/>
      <dgm:spPr/>
    </dgm:pt>
    <dgm:pt modelId="{09F2871C-39F5-5742-9DF7-0855EB8DEFD7}" type="pres">
      <dgm:prSet presAssocID="{3C753103-1ECD-4806-84F4-474BBF3B1235}" presName="parentTextArrow" presStyleLbl="node1" presStyleIdx="1" presStyleCnt="2"/>
      <dgm:spPr/>
    </dgm:pt>
  </dgm:ptLst>
  <dgm:cxnLst>
    <dgm:cxn modelId="{D912A116-63D8-A441-A7F6-E7F370CC7BDA}" type="presOf" srcId="{9A242A69-A574-461D-B207-D19A9A7ACE44}" destId="{B645EFDF-FA32-044D-A534-3922D817FBCC}" srcOrd="0" destOrd="0" presId="urn:microsoft.com/office/officeart/2005/8/layout/process4"/>
    <dgm:cxn modelId="{35FB3B29-8FA0-1542-AB65-79EC07E862B8}" type="presOf" srcId="{66CDCB9B-5494-437E-A5C3-1EF5D5AB554B}" destId="{2262DBFA-2D77-984E-9EEE-48A44F58E019}" srcOrd="0" destOrd="0" presId="urn:microsoft.com/office/officeart/2005/8/layout/process4"/>
    <dgm:cxn modelId="{BF0CEF2F-BA14-492D-80EC-543882A81C32}" srcId="{A295512E-7713-48E5-B74C-04294F444914}" destId="{66CDCB9B-5494-437E-A5C3-1EF5D5AB554B}" srcOrd="1" destOrd="0" parTransId="{A3F329C0-A91B-4F8F-8908-0D07B9C2412A}" sibTransId="{ED6C73AB-E4E0-4658-80DB-D3A91F7F6443}"/>
    <dgm:cxn modelId="{B0519134-9807-4693-9D81-4570178DC5E4}" srcId="{66CDCB9B-5494-437E-A5C3-1EF5D5AB554B}" destId="{9A242A69-A574-461D-B207-D19A9A7ACE44}" srcOrd="0" destOrd="0" parTransId="{F539A510-ECA2-476A-A3C9-49BAE745F022}" sibTransId="{0665182B-7BB0-4029-AC13-B22EDACE32ED}"/>
    <dgm:cxn modelId="{2C20F139-9B2B-412D-B93C-575BE977B201}" srcId="{A295512E-7713-48E5-B74C-04294F444914}" destId="{3C753103-1ECD-4806-84F4-474BBF3B1235}" srcOrd="0" destOrd="0" parTransId="{895EA60C-EFAF-4618-B11D-E54D83E0227C}" sibTransId="{4BA9C8F6-64F6-4A10-9492-14087E7D3E31}"/>
    <dgm:cxn modelId="{47598B5B-4724-644F-9144-D796273ECBFF}" type="presOf" srcId="{B3AFD42D-0FEE-402F-8249-AE48B786C64B}" destId="{4472FCFD-892D-5F44-8C8D-B366B89D134B}" srcOrd="0" destOrd="0" presId="urn:microsoft.com/office/officeart/2005/8/layout/process4"/>
    <dgm:cxn modelId="{92BC8462-4162-D244-B89F-A5C6CF0FCC79}" type="presOf" srcId="{7C85F602-B8FA-4BB0-B44D-FD148607E4A1}" destId="{9C4969D0-E012-744C-A135-2311B33868B0}" srcOrd="0" destOrd="0" presId="urn:microsoft.com/office/officeart/2005/8/layout/process4"/>
    <dgm:cxn modelId="{69601F80-D6FD-4BE6-A21F-7CBD382CB4F3}" srcId="{66CDCB9B-5494-437E-A5C3-1EF5D5AB554B}" destId="{B3AFD42D-0FEE-402F-8249-AE48B786C64B}" srcOrd="1" destOrd="0" parTransId="{71C0CBA9-3FA1-40D6-B0C2-351759A08BB8}" sibTransId="{E0DA6BFB-FE45-4A0D-87EC-1CA05A1AF1D8}"/>
    <dgm:cxn modelId="{822B5FC3-AEE5-4DC6-AE39-3E4E21E5086D}" srcId="{66CDCB9B-5494-437E-A5C3-1EF5D5AB554B}" destId="{7C85F602-B8FA-4BB0-B44D-FD148607E4A1}" srcOrd="2" destOrd="0" parTransId="{F2924425-75BB-4B83-8198-AC5F3BC70CA3}" sibTransId="{61E4E9E3-298F-400D-A674-A8902D1B6729}"/>
    <dgm:cxn modelId="{483D1BDB-FC39-F548-AA36-657266A2E4CB}" type="presOf" srcId="{66CDCB9B-5494-437E-A5C3-1EF5D5AB554B}" destId="{CD731B08-B392-3A4F-AA04-14B9690D1B13}" srcOrd="1" destOrd="0" presId="urn:microsoft.com/office/officeart/2005/8/layout/process4"/>
    <dgm:cxn modelId="{836316E2-2833-A74A-A21F-729D033B8954}" type="presOf" srcId="{A295512E-7713-48E5-B74C-04294F444914}" destId="{46D5EC80-763B-7A4A-82AB-DE027CFADE3B}" srcOrd="0" destOrd="0" presId="urn:microsoft.com/office/officeart/2005/8/layout/process4"/>
    <dgm:cxn modelId="{8E375EEE-04D4-FC4B-A0F9-2B48BB01679E}" type="presOf" srcId="{3C753103-1ECD-4806-84F4-474BBF3B1235}" destId="{09F2871C-39F5-5742-9DF7-0855EB8DEFD7}" srcOrd="0" destOrd="0" presId="urn:microsoft.com/office/officeart/2005/8/layout/process4"/>
    <dgm:cxn modelId="{96351EC3-8177-7841-8AC6-206A2A86A616}" type="presParOf" srcId="{46D5EC80-763B-7A4A-82AB-DE027CFADE3B}" destId="{D3D3EE27-E1B3-644E-A63E-1DDFBFB34874}" srcOrd="0" destOrd="0" presId="urn:microsoft.com/office/officeart/2005/8/layout/process4"/>
    <dgm:cxn modelId="{B34C982D-AF03-9048-A248-8978D90538E9}" type="presParOf" srcId="{D3D3EE27-E1B3-644E-A63E-1DDFBFB34874}" destId="{2262DBFA-2D77-984E-9EEE-48A44F58E019}" srcOrd="0" destOrd="0" presId="urn:microsoft.com/office/officeart/2005/8/layout/process4"/>
    <dgm:cxn modelId="{882531D0-F076-6A4A-87CC-F44F47552B4E}" type="presParOf" srcId="{D3D3EE27-E1B3-644E-A63E-1DDFBFB34874}" destId="{CD731B08-B392-3A4F-AA04-14B9690D1B13}" srcOrd="1" destOrd="0" presId="urn:microsoft.com/office/officeart/2005/8/layout/process4"/>
    <dgm:cxn modelId="{16E94CD4-E3F3-C942-A705-F15006ABC8F9}" type="presParOf" srcId="{D3D3EE27-E1B3-644E-A63E-1DDFBFB34874}" destId="{565904B3-6538-E44A-8ED6-8F7398C59DA7}" srcOrd="2" destOrd="0" presId="urn:microsoft.com/office/officeart/2005/8/layout/process4"/>
    <dgm:cxn modelId="{55166A28-B359-E144-8A30-74A4C6CB4214}" type="presParOf" srcId="{565904B3-6538-E44A-8ED6-8F7398C59DA7}" destId="{B645EFDF-FA32-044D-A534-3922D817FBCC}" srcOrd="0" destOrd="0" presId="urn:microsoft.com/office/officeart/2005/8/layout/process4"/>
    <dgm:cxn modelId="{AC556B20-FBE0-5D4B-A947-590CDE03D2DE}" type="presParOf" srcId="{565904B3-6538-E44A-8ED6-8F7398C59DA7}" destId="{4472FCFD-892D-5F44-8C8D-B366B89D134B}" srcOrd="1" destOrd="0" presId="urn:microsoft.com/office/officeart/2005/8/layout/process4"/>
    <dgm:cxn modelId="{7B981F5B-D1AC-DD4E-BCC1-70CC0BA5CF98}" type="presParOf" srcId="{565904B3-6538-E44A-8ED6-8F7398C59DA7}" destId="{9C4969D0-E012-744C-A135-2311B33868B0}" srcOrd="2" destOrd="0" presId="urn:microsoft.com/office/officeart/2005/8/layout/process4"/>
    <dgm:cxn modelId="{9BC470B3-E70E-8443-948A-6626AB584219}" type="presParOf" srcId="{46D5EC80-763B-7A4A-82AB-DE027CFADE3B}" destId="{6EEE4A64-9E24-CD40-9876-62E089DC5FED}" srcOrd="1" destOrd="0" presId="urn:microsoft.com/office/officeart/2005/8/layout/process4"/>
    <dgm:cxn modelId="{208B9F57-8AC6-3548-9EBD-D122F19BFF44}" type="presParOf" srcId="{46D5EC80-763B-7A4A-82AB-DE027CFADE3B}" destId="{069738B1-9661-E940-A7ED-DDC2139CBF81}" srcOrd="2" destOrd="0" presId="urn:microsoft.com/office/officeart/2005/8/layout/process4"/>
    <dgm:cxn modelId="{6BBADA99-3A68-5641-B2AB-A8A805C797B5}" type="presParOf" srcId="{069738B1-9661-E940-A7ED-DDC2139CBF81}" destId="{09F2871C-39F5-5742-9DF7-0855EB8DEFD7}"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CEF4149-9BD5-4278-BD75-D20DF0BD1FDD}"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F21FD986-5BF0-49AD-825F-27DBE8A86BB4}">
      <dgm:prSet/>
      <dgm:spPr/>
      <dgm:t>
        <a:bodyPr/>
        <a:lstStyle/>
        <a:p>
          <a:r>
            <a:rPr lang="en-US" b="1"/>
            <a:t>Broken Access Control</a:t>
          </a:r>
          <a:endParaRPr lang="en-US"/>
        </a:p>
      </dgm:t>
    </dgm:pt>
    <dgm:pt modelId="{41D73914-F5C0-49FF-A260-4F2D634544E8}" type="parTrans" cxnId="{06619B68-5462-457C-8879-21A8E614771F}">
      <dgm:prSet/>
      <dgm:spPr/>
      <dgm:t>
        <a:bodyPr/>
        <a:lstStyle/>
        <a:p>
          <a:endParaRPr lang="en-US"/>
        </a:p>
      </dgm:t>
    </dgm:pt>
    <dgm:pt modelId="{BB98DA1D-EAF0-43FB-B08E-98BBBFB15788}" type="sibTrans" cxnId="{06619B68-5462-457C-8879-21A8E614771F}">
      <dgm:prSet/>
      <dgm:spPr/>
      <dgm:t>
        <a:bodyPr/>
        <a:lstStyle/>
        <a:p>
          <a:endParaRPr lang="en-US"/>
        </a:p>
      </dgm:t>
    </dgm:pt>
    <dgm:pt modelId="{032AAD14-9264-4DE0-A730-3D1BB1DDAD40}">
      <dgm:prSet/>
      <dgm:spPr/>
      <dgm:t>
        <a:bodyPr/>
        <a:lstStyle/>
        <a:p>
          <a:r>
            <a:rPr lang="en-US"/>
            <a:t>BOLA, Mass Assignment, privilege escalation</a:t>
          </a:r>
        </a:p>
      </dgm:t>
    </dgm:pt>
    <dgm:pt modelId="{6D38C6C0-5017-44D2-BF46-FC319B12AA68}" type="parTrans" cxnId="{B81F0C40-B2BE-43DA-8873-A153B89896D6}">
      <dgm:prSet/>
      <dgm:spPr/>
      <dgm:t>
        <a:bodyPr/>
        <a:lstStyle/>
        <a:p>
          <a:endParaRPr lang="en-US"/>
        </a:p>
      </dgm:t>
    </dgm:pt>
    <dgm:pt modelId="{1687E9C4-987B-40C9-9428-B22FA7544AE3}" type="sibTrans" cxnId="{B81F0C40-B2BE-43DA-8873-A153B89896D6}">
      <dgm:prSet/>
      <dgm:spPr/>
      <dgm:t>
        <a:bodyPr/>
        <a:lstStyle/>
        <a:p>
          <a:endParaRPr lang="en-US"/>
        </a:p>
      </dgm:t>
    </dgm:pt>
    <dgm:pt modelId="{885D0FD7-5AA5-4A1B-8D69-BD565D8122A8}">
      <dgm:prSet/>
      <dgm:spPr/>
      <dgm:t>
        <a:bodyPr/>
        <a:lstStyle/>
        <a:p>
          <a:r>
            <a:rPr lang="en-US" b="1"/>
            <a:t>Excessive Data Exposure</a:t>
          </a:r>
          <a:endParaRPr lang="en-US"/>
        </a:p>
      </dgm:t>
    </dgm:pt>
    <dgm:pt modelId="{813330DD-720F-413D-A6EA-F23C27DD5CCE}" type="parTrans" cxnId="{56E7DEAE-3ED1-4E96-82EF-A715D929F0E0}">
      <dgm:prSet/>
      <dgm:spPr/>
      <dgm:t>
        <a:bodyPr/>
        <a:lstStyle/>
        <a:p>
          <a:endParaRPr lang="en-US"/>
        </a:p>
      </dgm:t>
    </dgm:pt>
    <dgm:pt modelId="{B80A77E1-4BBC-4FD4-BFA1-5A06E49639DE}" type="sibTrans" cxnId="{56E7DEAE-3ED1-4E96-82EF-A715D929F0E0}">
      <dgm:prSet/>
      <dgm:spPr/>
      <dgm:t>
        <a:bodyPr/>
        <a:lstStyle/>
        <a:p>
          <a:endParaRPr lang="en-US"/>
        </a:p>
      </dgm:t>
    </dgm:pt>
    <dgm:pt modelId="{E5589B5E-6FD3-41B1-BD29-32ABAB6E8397}">
      <dgm:prSet/>
      <dgm:spPr/>
      <dgm:t>
        <a:bodyPr/>
        <a:lstStyle/>
        <a:p>
          <a:r>
            <a:rPr lang="en-US"/>
            <a:t>APIs returning far more data than intended</a:t>
          </a:r>
        </a:p>
      </dgm:t>
    </dgm:pt>
    <dgm:pt modelId="{BCF683B4-BB98-4988-99AB-7CA37E61D120}" type="parTrans" cxnId="{7D96AB73-27BE-42CE-963A-F62808BB0DAF}">
      <dgm:prSet/>
      <dgm:spPr/>
      <dgm:t>
        <a:bodyPr/>
        <a:lstStyle/>
        <a:p>
          <a:endParaRPr lang="en-US"/>
        </a:p>
      </dgm:t>
    </dgm:pt>
    <dgm:pt modelId="{D075D126-273B-4F94-A9D5-A778265BC0EA}" type="sibTrans" cxnId="{7D96AB73-27BE-42CE-963A-F62808BB0DAF}">
      <dgm:prSet/>
      <dgm:spPr/>
      <dgm:t>
        <a:bodyPr/>
        <a:lstStyle/>
        <a:p>
          <a:endParaRPr lang="en-US"/>
        </a:p>
      </dgm:t>
    </dgm:pt>
    <dgm:pt modelId="{C395484B-1B1B-45DB-B05C-C1526BA06137}">
      <dgm:prSet/>
      <dgm:spPr/>
      <dgm:t>
        <a:bodyPr/>
        <a:lstStyle/>
        <a:p>
          <a:r>
            <a:rPr lang="en-US" b="1"/>
            <a:t>Weak Security Controls</a:t>
          </a:r>
          <a:endParaRPr lang="en-US"/>
        </a:p>
      </dgm:t>
    </dgm:pt>
    <dgm:pt modelId="{E13D012D-0C49-4BAF-998B-562E8374E49B}" type="parTrans" cxnId="{7D524A33-FD2D-463F-8F53-05E864179C05}">
      <dgm:prSet/>
      <dgm:spPr/>
      <dgm:t>
        <a:bodyPr/>
        <a:lstStyle/>
        <a:p>
          <a:endParaRPr lang="en-US"/>
        </a:p>
      </dgm:t>
    </dgm:pt>
    <dgm:pt modelId="{4463BF47-62EE-482D-ADD2-98C915730245}" type="sibTrans" cxnId="{7D524A33-FD2D-463F-8F53-05E864179C05}">
      <dgm:prSet/>
      <dgm:spPr/>
      <dgm:t>
        <a:bodyPr/>
        <a:lstStyle/>
        <a:p>
          <a:endParaRPr lang="en-US"/>
        </a:p>
      </dgm:t>
    </dgm:pt>
    <dgm:pt modelId="{26DB63BF-22C8-46FF-9351-69ADF62F8306}">
      <dgm:prSet/>
      <dgm:spPr/>
      <dgm:t>
        <a:bodyPr/>
        <a:lstStyle/>
        <a:p>
          <a:r>
            <a:rPr lang="en-US" sz="2400" kern="1200"/>
            <a:t>CORS misconfig, no rate limits, resource exhaustion</a:t>
          </a:r>
        </a:p>
      </dgm:t>
    </dgm:pt>
    <dgm:pt modelId="{C956AB0C-E8AE-407C-85FA-09063E696206}" type="parTrans" cxnId="{C763DD35-7734-4D3F-93A3-25103093653A}">
      <dgm:prSet/>
      <dgm:spPr/>
      <dgm:t>
        <a:bodyPr/>
        <a:lstStyle/>
        <a:p>
          <a:endParaRPr lang="en-US"/>
        </a:p>
      </dgm:t>
    </dgm:pt>
    <dgm:pt modelId="{C88A6D66-4F52-457E-A64B-397DC004282C}" type="sibTrans" cxnId="{C763DD35-7734-4D3F-93A3-25103093653A}">
      <dgm:prSet/>
      <dgm:spPr/>
      <dgm:t>
        <a:bodyPr/>
        <a:lstStyle/>
        <a:p>
          <a:endParaRPr lang="en-US"/>
        </a:p>
      </dgm:t>
    </dgm:pt>
    <dgm:pt modelId="{B263E4D6-8AD3-4FD6-BA25-9834653651D6}">
      <dgm:prSet custT="1"/>
      <dgm:spPr/>
      <dgm:t>
        <a:bodyPr/>
        <a:lstStyle/>
        <a:p>
          <a:pPr>
            <a:buNone/>
          </a:pPr>
          <a:r>
            <a:rPr lang="en-US" sz="1600" i="1" kern="1200" dirty="0">
              <a:solidFill>
                <a:prstClr val="black">
                  <a:hueOff val="0"/>
                  <a:satOff val="0"/>
                  <a:lumOff val="0"/>
                  <a:alphaOff val="0"/>
                </a:prstClr>
              </a:solidFill>
              <a:latin typeface="Century Gothic" panose="020B0502020202020204"/>
              <a:ea typeface="+mn-ea"/>
              <a:cs typeface="+mn-cs"/>
            </a:rPr>
            <a:t>https://</a:t>
          </a:r>
          <a:r>
            <a:rPr lang="en-US" sz="1600" i="1" kern="1200" dirty="0" err="1">
              <a:solidFill>
                <a:prstClr val="black">
                  <a:hueOff val="0"/>
                  <a:satOff val="0"/>
                  <a:lumOff val="0"/>
                  <a:alphaOff val="0"/>
                </a:prstClr>
              </a:solidFill>
              <a:latin typeface="Century Gothic" panose="020B0502020202020204"/>
              <a:ea typeface="+mn-ea"/>
              <a:cs typeface="+mn-cs"/>
            </a:rPr>
            <a:t>owasp.org</a:t>
          </a:r>
          <a:r>
            <a:rPr lang="en-US" sz="1600" i="1" kern="1200" dirty="0">
              <a:solidFill>
                <a:prstClr val="black">
                  <a:hueOff val="0"/>
                  <a:satOff val="0"/>
                  <a:lumOff val="0"/>
                  <a:alphaOff val="0"/>
                </a:prstClr>
              </a:solidFill>
              <a:latin typeface="Century Gothic" panose="020B0502020202020204"/>
              <a:ea typeface="+mn-ea"/>
              <a:cs typeface="+mn-cs"/>
            </a:rPr>
            <a:t>/API-Security/editions/2023/</a:t>
          </a:r>
          <a:r>
            <a:rPr lang="en-US" sz="1600" i="1" kern="1200" dirty="0" err="1">
              <a:solidFill>
                <a:prstClr val="black">
                  <a:hueOff val="0"/>
                  <a:satOff val="0"/>
                  <a:lumOff val="0"/>
                  <a:alphaOff val="0"/>
                </a:prstClr>
              </a:solidFill>
              <a:latin typeface="Century Gothic" panose="020B0502020202020204"/>
              <a:ea typeface="+mn-ea"/>
              <a:cs typeface="+mn-cs"/>
            </a:rPr>
            <a:t>en</a:t>
          </a:r>
          <a:r>
            <a:rPr lang="en-US" sz="1600" i="1" kern="1200" dirty="0">
              <a:solidFill>
                <a:prstClr val="black">
                  <a:hueOff val="0"/>
                  <a:satOff val="0"/>
                  <a:lumOff val="0"/>
                  <a:alphaOff val="0"/>
                </a:prstClr>
              </a:solidFill>
              <a:latin typeface="Century Gothic" panose="020B0502020202020204"/>
              <a:ea typeface="+mn-ea"/>
              <a:cs typeface="+mn-cs"/>
            </a:rPr>
            <a:t>/0x11-t10/</a:t>
          </a:r>
        </a:p>
      </dgm:t>
    </dgm:pt>
    <dgm:pt modelId="{4F8D4883-3C32-400D-8D13-E836DBB2FF0C}" type="parTrans" cxnId="{016C5AB2-9128-42E6-A645-66A4D1D508F4}">
      <dgm:prSet/>
      <dgm:spPr/>
      <dgm:t>
        <a:bodyPr/>
        <a:lstStyle/>
        <a:p>
          <a:endParaRPr lang="en-US"/>
        </a:p>
      </dgm:t>
    </dgm:pt>
    <dgm:pt modelId="{BD8CFF88-C790-42BF-A5AC-2B5E6CD26A1D}" type="sibTrans" cxnId="{016C5AB2-9128-42E6-A645-66A4D1D508F4}">
      <dgm:prSet/>
      <dgm:spPr/>
      <dgm:t>
        <a:bodyPr/>
        <a:lstStyle/>
        <a:p>
          <a:endParaRPr lang="en-US"/>
        </a:p>
      </dgm:t>
    </dgm:pt>
    <dgm:pt modelId="{A5FD2CB5-64D8-3747-B8C3-29582EA4100C}" type="pres">
      <dgm:prSet presAssocID="{2CEF4149-9BD5-4278-BD75-D20DF0BD1FDD}" presName="linear" presStyleCnt="0">
        <dgm:presLayoutVars>
          <dgm:animLvl val="lvl"/>
          <dgm:resizeHandles val="exact"/>
        </dgm:presLayoutVars>
      </dgm:prSet>
      <dgm:spPr/>
    </dgm:pt>
    <dgm:pt modelId="{D12774ED-CD17-7D40-BFC1-BCCFEEA937EB}" type="pres">
      <dgm:prSet presAssocID="{F21FD986-5BF0-49AD-825F-27DBE8A86BB4}" presName="parentText" presStyleLbl="node1" presStyleIdx="0" presStyleCnt="3">
        <dgm:presLayoutVars>
          <dgm:chMax val="0"/>
          <dgm:bulletEnabled val="1"/>
        </dgm:presLayoutVars>
      </dgm:prSet>
      <dgm:spPr/>
    </dgm:pt>
    <dgm:pt modelId="{A7B44521-C3B9-5D47-998A-FD6B9F0AEFC5}" type="pres">
      <dgm:prSet presAssocID="{F21FD986-5BF0-49AD-825F-27DBE8A86BB4}" presName="childText" presStyleLbl="revTx" presStyleIdx="0" presStyleCnt="3">
        <dgm:presLayoutVars>
          <dgm:bulletEnabled val="1"/>
        </dgm:presLayoutVars>
      </dgm:prSet>
      <dgm:spPr/>
    </dgm:pt>
    <dgm:pt modelId="{AB49D20B-B504-CC41-A421-FA9E65F28E71}" type="pres">
      <dgm:prSet presAssocID="{885D0FD7-5AA5-4A1B-8D69-BD565D8122A8}" presName="parentText" presStyleLbl="node1" presStyleIdx="1" presStyleCnt="3">
        <dgm:presLayoutVars>
          <dgm:chMax val="0"/>
          <dgm:bulletEnabled val="1"/>
        </dgm:presLayoutVars>
      </dgm:prSet>
      <dgm:spPr/>
    </dgm:pt>
    <dgm:pt modelId="{ECFBD2B9-BF38-5D4F-B81E-FC0B915284C0}" type="pres">
      <dgm:prSet presAssocID="{885D0FD7-5AA5-4A1B-8D69-BD565D8122A8}" presName="childText" presStyleLbl="revTx" presStyleIdx="1" presStyleCnt="3">
        <dgm:presLayoutVars>
          <dgm:bulletEnabled val="1"/>
        </dgm:presLayoutVars>
      </dgm:prSet>
      <dgm:spPr/>
    </dgm:pt>
    <dgm:pt modelId="{86B810C5-D6C0-D84A-9BFE-65E0F4E75F69}" type="pres">
      <dgm:prSet presAssocID="{C395484B-1B1B-45DB-B05C-C1526BA06137}" presName="parentText" presStyleLbl="node1" presStyleIdx="2" presStyleCnt="3">
        <dgm:presLayoutVars>
          <dgm:chMax val="0"/>
          <dgm:bulletEnabled val="1"/>
        </dgm:presLayoutVars>
      </dgm:prSet>
      <dgm:spPr/>
    </dgm:pt>
    <dgm:pt modelId="{7AFAFB62-496D-0345-A352-14AEB37485FE}" type="pres">
      <dgm:prSet presAssocID="{C395484B-1B1B-45DB-B05C-C1526BA06137}" presName="childText" presStyleLbl="revTx" presStyleIdx="2" presStyleCnt="3">
        <dgm:presLayoutVars>
          <dgm:bulletEnabled val="1"/>
        </dgm:presLayoutVars>
      </dgm:prSet>
      <dgm:spPr/>
    </dgm:pt>
  </dgm:ptLst>
  <dgm:cxnLst>
    <dgm:cxn modelId="{ABD1A807-131A-AA44-ADA6-88262862BD22}" type="presOf" srcId="{032AAD14-9264-4DE0-A730-3D1BB1DDAD40}" destId="{A7B44521-C3B9-5D47-998A-FD6B9F0AEFC5}" srcOrd="0" destOrd="0" presId="urn:microsoft.com/office/officeart/2005/8/layout/vList2"/>
    <dgm:cxn modelId="{7D524A33-FD2D-463F-8F53-05E864179C05}" srcId="{2CEF4149-9BD5-4278-BD75-D20DF0BD1FDD}" destId="{C395484B-1B1B-45DB-B05C-C1526BA06137}" srcOrd="2" destOrd="0" parTransId="{E13D012D-0C49-4BAF-998B-562E8374E49B}" sibTransId="{4463BF47-62EE-482D-ADD2-98C915730245}"/>
    <dgm:cxn modelId="{C763DD35-7734-4D3F-93A3-25103093653A}" srcId="{C395484B-1B1B-45DB-B05C-C1526BA06137}" destId="{26DB63BF-22C8-46FF-9351-69ADF62F8306}" srcOrd="0" destOrd="0" parTransId="{C956AB0C-E8AE-407C-85FA-09063E696206}" sibTransId="{C88A6D66-4F52-457E-A64B-397DC004282C}"/>
    <dgm:cxn modelId="{B81F0C40-B2BE-43DA-8873-A153B89896D6}" srcId="{F21FD986-5BF0-49AD-825F-27DBE8A86BB4}" destId="{032AAD14-9264-4DE0-A730-3D1BB1DDAD40}" srcOrd="0" destOrd="0" parTransId="{6D38C6C0-5017-44D2-BF46-FC319B12AA68}" sibTransId="{1687E9C4-987B-40C9-9428-B22FA7544AE3}"/>
    <dgm:cxn modelId="{05A6F15B-3825-EF45-8CA1-7573C9F3B37B}" type="presOf" srcId="{E5589B5E-6FD3-41B1-BD29-32ABAB6E8397}" destId="{ECFBD2B9-BF38-5D4F-B81E-FC0B915284C0}" srcOrd="0" destOrd="0" presId="urn:microsoft.com/office/officeart/2005/8/layout/vList2"/>
    <dgm:cxn modelId="{FF923A64-6F91-D647-873B-67B722A09D41}" type="presOf" srcId="{2CEF4149-9BD5-4278-BD75-D20DF0BD1FDD}" destId="{A5FD2CB5-64D8-3747-B8C3-29582EA4100C}" srcOrd="0" destOrd="0" presId="urn:microsoft.com/office/officeart/2005/8/layout/vList2"/>
    <dgm:cxn modelId="{06619B68-5462-457C-8879-21A8E614771F}" srcId="{2CEF4149-9BD5-4278-BD75-D20DF0BD1FDD}" destId="{F21FD986-5BF0-49AD-825F-27DBE8A86BB4}" srcOrd="0" destOrd="0" parTransId="{41D73914-F5C0-49FF-A260-4F2D634544E8}" sibTransId="{BB98DA1D-EAF0-43FB-B08E-98BBBFB15788}"/>
    <dgm:cxn modelId="{7D96AB73-27BE-42CE-963A-F62808BB0DAF}" srcId="{885D0FD7-5AA5-4A1B-8D69-BD565D8122A8}" destId="{E5589B5E-6FD3-41B1-BD29-32ABAB6E8397}" srcOrd="0" destOrd="0" parTransId="{BCF683B4-BB98-4988-99AB-7CA37E61D120}" sibTransId="{D075D126-273B-4F94-A9D5-A778265BC0EA}"/>
    <dgm:cxn modelId="{18C81277-F53F-9B4C-BDC4-9FF4E3665C4F}" type="presOf" srcId="{B263E4D6-8AD3-4FD6-BA25-9834653651D6}" destId="{7AFAFB62-496D-0345-A352-14AEB37485FE}" srcOrd="0" destOrd="1" presId="urn:microsoft.com/office/officeart/2005/8/layout/vList2"/>
    <dgm:cxn modelId="{5EC29F97-4C2F-3A47-8F43-97E4459A568B}" type="presOf" srcId="{26DB63BF-22C8-46FF-9351-69ADF62F8306}" destId="{7AFAFB62-496D-0345-A352-14AEB37485FE}" srcOrd="0" destOrd="0" presId="urn:microsoft.com/office/officeart/2005/8/layout/vList2"/>
    <dgm:cxn modelId="{8562679F-E1A7-494D-A9EA-A665C6D79BF9}" type="presOf" srcId="{F21FD986-5BF0-49AD-825F-27DBE8A86BB4}" destId="{D12774ED-CD17-7D40-BFC1-BCCFEEA937EB}" srcOrd="0" destOrd="0" presId="urn:microsoft.com/office/officeart/2005/8/layout/vList2"/>
    <dgm:cxn modelId="{56E7DEAE-3ED1-4E96-82EF-A715D929F0E0}" srcId="{2CEF4149-9BD5-4278-BD75-D20DF0BD1FDD}" destId="{885D0FD7-5AA5-4A1B-8D69-BD565D8122A8}" srcOrd="1" destOrd="0" parTransId="{813330DD-720F-413D-A6EA-F23C27DD5CCE}" sibTransId="{B80A77E1-4BBC-4FD4-BFA1-5A06E49639DE}"/>
    <dgm:cxn modelId="{016C5AB2-9128-42E6-A645-66A4D1D508F4}" srcId="{C395484B-1B1B-45DB-B05C-C1526BA06137}" destId="{B263E4D6-8AD3-4FD6-BA25-9834653651D6}" srcOrd="1" destOrd="0" parTransId="{4F8D4883-3C32-400D-8D13-E836DBB2FF0C}" sibTransId="{BD8CFF88-C790-42BF-A5AC-2B5E6CD26A1D}"/>
    <dgm:cxn modelId="{EC14A1BF-4076-8340-B27B-AF417D6320CE}" type="presOf" srcId="{C395484B-1B1B-45DB-B05C-C1526BA06137}" destId="{86B810C5-D6C0-D84A-9BFE-65E0F4E75F69}" srcOrd="0" destOrd="0" presId="urn:microsoft.com/office/officeart/2005/8/layout/vList2"/>
    <dgm:cxn modelId="{2A4EFFE4-AF12-2240-8150-473C77228697}" type="presOf" srcId="{885D0FD7-5AA5-4A1B-8D69-BD565D8122A8}" destId="{AB49D20B-B504-CC41-A421-FA9E65F28E71}" srcOrd="0" destOrd="0" presId="urn:microsoft.com/office/officeart/2005/8/layout/vList2"/>
    <dgm:cxn modelId="{FCDDB9B7-A48B-EF49-81E2-625957C720BD}" type="presParOf" srcId="{A5FD2CB5-64D8-3747-B8C3-29582EA4100C}" destId="{D12774ED-CD17-7D40-BFC1-BCCFEEA937EB}" srcOrd="0" destOrd="0" presId="urn:microsoft.com/office/officeart/2005/8/layout/vList2"/>
    <dgm:cxn modelId="{034AFC5A-D524-BC4D-B299-7E6802B87C27}" type="presParOf" srcId="{A5FD2CB5-64D8-3747-B8C3-29582EA4100C}" destId="{A7B44521-C3B9-5D47-998A-FD6B9F0AEFC5}" srcOrd="1" destOrd="0" presId="urn:microsoft.com/office/officeart/2005/8/layout/vList2"/>
    <dgm:cxn modelId="{BC13712F-10E2-3C4A-AAA6-4814536852F9}" type="presParOf" srcId="{A5FD2CB5-64D8-3747-B8C3-29582EA4100C}" destId="{AB49D20B-B504-CC41-A421-FA9E65F28E71}" srcOrd="2" destOrd="0" presId="urn:microsoft.com/office/officeart/2005/8/layout/vList2"/>
    <dgm:cxn modelId="{55985254-C7F8-6D4B-AD9A-2BF72E06902C}" type="presParOf" srcId="{A5FD2CB5-64D8-3747-B8C3-29582EA4100C}" destId="{ECFBD2B9-BF38-5D4F-B81E-FC0B915284C0}" srcOrd="3" destOrd="0" presId="urn:microsoft.com/office/officeart/2005/8/layout/vList2"/>
    <dgm:cxn modelId="{5CE3FB28-18FF-9046-B1B6-052A623D54C0}" type="presParOf" srcId="{A5FD2CB5-64D8-3747-B8C3-29582EA4100C}" destId="{86B810C5-D6C0-D84A-9BFE-65E0F4E75F69}" srcOrd="4" destOrd="0" presId="urn:microsoft.com/office/officeart/2005/8/layout/vList2"/>
    <dgm:cxn modelId="{C8AFF78B-CD76-2844-9CFB-4F901B81228E}" type="presParOf" srcId="{A5FD2CB5-64D8-3747-B8C3-29582EA4100C}" destId="{7AFAFB62-496D-0345-A352-14AEB37485FE}" srcOrd="5"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054EC9-6324-EF4B-A032-BB8F043938F1}">
      <dsp:nvSpPr>
        <dsp:cNvPr id="0" name=""/>
        <dsp:cNvSpPr/>
      </dsp:nvSpPr>
      <dsp:spPr>
        <a:xfrm>
          <a:off x="0" y="496643"/>
          <a:ext cx="6391275" cy="1352520"/>
        </a:xfrm>
        <a:prstGeom prst="round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b="1" i="0" kern="1200"/>
            <a:t>Discovery</a:t>
          </a:r>
          <a:r>
            <a:rPr lang="en-US" sz="3400" b="0" i="0" kern="1200"/>
            <a:t> → attacker finds an unprotected API</a:t>
          </a:r>
          <a:endParaRPr lang="en-US" sz="3400" kern="1200"/>
        </a:p>
      </dsp:txBody>
      <dsp:txXfrm>
        <a:off x="66025" y="562668"/>
        <a:ext cx="6259225" cy="1220470"/>
      </dsp:txXfrm>
    </dsp:sp>
    <dsp:sp modelId="{61BBE5AB-8F7B-0542-A0F2-AD65A4342118}">
      <dsp:nvSpPr>
        <dsp:cNvPr id="0" name=""/>
        <dsp:cNvSpPr/>
      </dsp:nvSpPr>
      <dsp:spPr>
        <a:xfrm>
          <a:off x="0" y="1947083"/>
          <a:ext cx="6391275" cy="1352520"/>
        </a:xfrm>
        <a:prstGeom prst="roundRect">
          <a:avLst/>
        </a:prstGeom>
        <a:solidFill>
          <a:schemeClr val="accent2">
            <a:hueOff val="-9882860"/>
            <a:satOff val="451"/>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b="1" i="0" kern="1200"/>
            <a:t>Exploitation</a:t>
          </a:r>
          <a:r>
            <a:rPr lang="en-US" sz="3400" b="0" i="0" kern="1200"/>
            <a:t> → sensitive data stolen or access escalated</a:t>
          </a:r>
          <a:endParaRPr lang="en-US" sz="3400" kern="1200"/>
        </a:p>
      </dsp:txBody>
      <dsp:txXfrm>
        <a:off x="66025" y="2013108"/>
        <a:ext cx="6259225" cy="1220470"/>
      </dsp:txXfrm>
    </dsp:sp>
    <dsp:sp modelId="{19D47A99-02CD-1C46-B8ED-A64EC53A765E}">
      <dsp:nvSpPr>
        <dsp:cNvPr id="0" name=""/>
        <dsp:cNvSpPr/>
      </dsp:nvSpPr>
      <dsp:spPr>
        <a:xfrm>
          <a:off x="0" y="3397523"/>
          <a:ext cx="6391275" cy="1352520"/>
        </a:xfrm>
        <a:prstGeom prst="roundRect">
          <a:avLst/>
        </a:prstGeom>
        <a:solidFill>
          <a:schemeClr val="accent2">
            <a:hueOff val="-19765721"/>
            <a:satOff val="901"/>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b="1" i="0" kern="1200"/>
            <a:t>Damage</a:t>
          </a:r>
          <a:r>
            <a:rPr lang="en-US" sz="3400" b="0" i="0" kern="1200"/>
            <a:t> → legal, financial, and reputational impact</a:t>
          </a:r>
          <a:endParaRPr lang="en-US" sz="3400" kern="1200"/>
        </a:p>
      </dsp:txBody>
      <dsp:txXfrm>
        <a:off x="66025" y="3463548"/>
        <a:ext cx="6259225" cy="122047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D970EE-1C91-9B45-857A-3F82F5DE2A98}">
      <dsp:nvSpPr>
        <dsp:cNvPr id="0" name=""/>
        <dsp:cNvSpPr/>
      </dsp:nvSpPr>
      <dsp:spPr>
        <a:xfrm>
          <a:off x="0" y="9743"/>
          <a:ext cx="6391275" cy="1684800"/>
        </a:xfrm>
        <a:prstGeom prst="roundRect">
          <a:avLst/>
        </a:prstGeom>
        <a:solidFill>
          <a:schemeClr val="accent5">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b="1" kern="1200"/>
            <a:t>What You Expect:</a:t>
          </a:r>
          <a:r>
            <a:rPr lang="en-US" sz="3000" kern="1200"/>
            <a:t> REST &amp; GraphQL powering web and mobile features</a:t>
          </a:r>
        </a:p>
      </dsp:txBody>
      <dsp:txXfrm>
        <a:off x="82245" y="91988"/>
        <a:ext cx="6226785" cy="1520310"/>
      </dsp:txXfrm>
    </dsp:sp>
    <dsp:sp modelId="{EC9A40FD-091A-0D4A-87C1-DB3DA1A3FD97}">
      <dsp:nvSpPr>
        <dsp:cNvPr id="0" name=""/>
        <dsp:cNvSpPr/>
      </dsp:nvSpPr>
      <dsp:spPr>
        <a:xfrm>
          <a:off x="0" y="1780943"/>
          <a:ext cx="6391275" cy="1684800"/>
        </a:xfrm>
        <a:prstGeom prst="roundRect">
          <a:avLst/>
        </a:prstGeom>
        <a:solidFill>
          <a:schemeClr val="accent5">
            <a:hueOff val="1219212"/>
            <a:satOff val="-9721"/>
            <a:lumOff val="-7353"/>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b="1" kern="1200"/>
            <a:t>What You Don’t See:</a:t>
          </a:r>
          <a:r>
            <a:rPr lang="en-US" sz="3000" kern="1200"/>
            <a:t> gRPC, Webhooks, Async APIs inside microservices</a:t>
          </a:r>
        </a:p>
      </dsp:txBody>
      <dsp:txXfrm>
        <a:off x="82245" y="1863188"/>
        <a:ext cx="6226785" cy="1520310"/>
      </dsp:txXfrm>
    </dsp:sp>
    <dsp:sp modelId="{FAF8D0E6-4E23-F948-B2C5-D175AB5DC0A1}">
      <dsp:nvSpPr>
        <dsp:cNvPr id="0" name=""/>
        <dsp:cNvSpPr/>
      </dsp:nvSpPr>
      <dsp:spPr>
        <a:xfrm>
          <a:off x="0" y="3552143"/>
          <a:ext cx="6391275" cy="1684800"/>
        </a:xfrm>
        <a:prstGeom prst="roundRect">
          <a:avLst/>
        </a:prstGeom>
        <a:solidFill>
          <a:schemeClr val="accent5">
            <a:hueOff val="2438425"/>
            <a:satOff val="-19443"/>
            <a:lumOff val="-14705"/>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US" sz="3000" b="1" kern="1200"/>
            <a:t>What You Forgot Exists:</a:t>
          </a:r>
          <a:r>
            <a:rPr lang="en-US" sz="3000" kern="1200"/>
            <a:t> SOAP/XML-RPC and internal “zombie” APIs</a:t>
          </a:r>
        </a:p>
      </dsp:txBody>
      <dsp:txXfrm>
        <a:off x="82245" y="3634388"/>
        <a:ext cx="6226785" cy="152031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9665C5-7353-B44C-B090-B939AF2CAF9C}">
      <dsp:nvSpPr>
        <dsp:cNvPr id="0" name=""/>
        <dsp:cNvSpPr/>
      </dsp:nvSpPr>
      <dsp:spPr>
        <a:xfrm>
          <a:off x="0" y="136357"/>
          <a:ext cx="5502614" cy="52767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dirty="0"/>
            <a:t>1 — Inline or Out-of-Band?</a:t>
          </a:r>
          <a:endParaRPr lang="en-US" sz="2200" kern="1200" dirty="0"/>
        </a:p>
      </dsp:txBody>
      <dsp:txXfrm>
        <a:off x="25759" y="162116"/>
        <a:ext cx="5451096" cy="476152"/>
      </dsp:txXfrm>
    </dsp:sp>
    <dsp:sp modelId="{AB2C234B-382D-8D4D-8C81-F9182D9C29E0}">
      <dsp:nvSpPr>
        <dsp:cNvPr id="0" name=""/>
        <dsp:cNvSpPr/>
      </dsp:nvSpPr>
      <dsp:spPr>
        <a:xfrm>
          <a:off x="0" y="664027"/>
          <a:ext cx="5502614" cy="2550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708"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b="1" kern="1200"/>
            <a:t>Inline</a:t>
          </a:r>
          <a:endParaRPr lang="en-US" sz="1700" kern="1200"/>
        </a:p>
        <a:p>
          <a:pPr marL="342900" lvl="2" indent="-171450" algn="l" defTabSz="755650">
            <a:lnSpc>
              <a:spcPct val="90000"/>
            </a:lnSpc>
            <a:spcBef>
              <a:spcPct val="0"/>
            </a:spcBef>
            <a:spcAft>
              <a:spcPct val="20000"/>
            </a:spcAft>
            <a:buChar char="•"/>
          </a:pPr>
          <a:r>
            <a:rPr lang="en-US" sz="1700" kern="1200"/>
            <a:t>Real-time blocking</a:t>
          </a:r>
        </a:p>
        <a:p>
          <a:pPr marL="342900" lvl="2" indent="-171450" algn="l" defTabSz="755650">
            <a:lnSpc>
              <a:spcPct val="90000"/>
            </a:lnSpc>
            <a:spcBef>
              <a:spcPct val="0"/>
            </a:spcBef>
            <a:spcAft>
              <a:spcPct val="20000"/>
            </a:spcAft>
            <a:buChar char="•"/>
          </a:pPr>
          <a:r>
            <a:rPr lang="en-US" sz="1700" kern="1200"/>
            <a:t>Can add </a:t>
          </a:r>
          <a:r>
            <a:rPr lang="en-US" sz="1700" b="1" kern="1200"/>
            <a:t>100–200ms latency</a:t>
          </a:r>
          <a:r>
            <a:rPr lang="en-US" sz="1700" kern="1200"/>
            <a:t> (per AWS API GW customer feedback)</a:t>
          </a:r>
        </a:p>
        <a:p>
          <a:pPr marL="171450" lvl="1" indent="-171450" algn="l" defTabSz="755650">
            <a:lnSpc>
              <a:spcPct val="90000"/>
            </a:lnSpc>
            <a:spcBef>
              <a:spcPct val="0"/>
            </a:spcBef>
            <a:spcAft>
              <a:spcPct val="20000"/>
            </a:spcAft>
            <a:buChar char="•"/>
          </a:pPr>
          <a:r>
            <a:rPr lang="en-US" sz="1700" b="1" kern="1200"/>
            <a:t>Out-of-Band (OOB)</a:t>
          </a:r>
          <a:endParaRPr lang="en-US" sz="1700" kern="1200"/>
        </a:p>
        <a:p>
          <a:pPr marL="342900" lvl="2" indent="-171450" algn="l" defTabSz="755650">
            <a:lnSpc>
              <a:spcPct val="90000"/>
            </a:lnSpc>
            <a:spcBef>
              <a:spcPct val="0"/>
            </a:spcBef>
            <a:spcAft>
              <a:spcPct val="20000"/>
            </a:spcAft>
            <a:buChar char="•"/>
          </a:pPr>
          <a:r>
            <a:rPr lang="en-US" sz="1700" kern="1200"/>
            <a:t>Mirrors traffic</a:t>
          </a:r>
        </a:p>
        <a:p>
          <a:pPr marL="342900" lvl="2" indent="-171450" algn="l" defTabSz="755650">
            <a:lnSpc>
              <a:spcPct val="90000"/>
            </a:lnSpc>
            <a:spcBef>
              <a:spcPct val="0"/>
            </a:spcBef>
            <a:spcAft>
              <a:spcPct val="20000"/>
            </a:spcAft>
            <a:buChar char="•"/>
          </a:pPr>
          <a:r>
            <a:rPr lang="en-US" sz="1700" b="1" kern="1200"/>
            <a:t>Zero latency</a:t>
          </a:r>
          <a:endParaRPr lang="en-US" sz="1700" kern="1200"/>
        </a:p>
        <a:p>
          <a:pPr marL="342900" lvl="2" indent="-171450" algn="l" defTabSz="755650">
            <a:lnSpc>
              <a:spcPct val="90000"/>
            </a:lnSpc>
            <a:spcBef>
              <a:spcPct val="0"/>
            </a:spcBef>
            <a:spcAft>
              <a:spcPct val="20000"/>
            </a:spcAft>
            <a:buChar char="•"/>
          </a:pPr>
          <a:r>
            <a:rPr lang="en-US" sz="1700" kern="1200"/>
            <a:t>Blocks via SOAR, WAF, Gateway</a:t>
          </a:r>
          <a:br>
            <a:rPr lang="en-US" sz="1700" kern="1200"/>
          </a:br>
          <a:endParaRPr lang="en-US" sz="1700" kern="1200"/>
        </a:p>
      </dsp:txBody>
      <dsp:txXfrm>
        <a:off x="0" y="664027"/>
        <a:ext cx="5502614" cy="2550240"/>
      </dsp:txXfrm>
    </dsp:sp>
    <dsp:sp modelId="{CF361716-9DA9-A94F-BE47-1E78BB90B65E}">
      <dsp:nvSpPr>
        <dsp:cNvPr id="0" name=""/>
        <dsp:cNvSpPr/>
      </dsp:nvSpPr>
      <dsp:spPr>
        <a:xfrm>
          <a:off x="0" y="3214267"/>
          <a:ext cx="5502614" cy="52767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a:t>2 — Full or Partial Protection?</a:t>
          </a:r>
          <a:endParaRPr lang="en-US" sz="2200" kern="1200"/>
        </a:p>
      </dsp:txBody>
      <dsp:txXfrm>
        <a:off x="25759" y="3240026"/>
        <a:ext cx="5451096" cy="476152"/>
      </dsp:txXfrm>
    </dsp:sp>
    <dsp:sp modelId="{14436C23-A141-4248-9AEC-9E824E74C7AF}">
      <dsp:nvSpPr>
        <dsp:cNvPr id="0" name=""/>
        <dsp:cNvSpPr/>
      </dsp:nvSpPr>
      <dsp:spPr>
        <a:xfrm>
          <a:off x="0" y="3741937"/>
          <a:ext cx="5502614" cy="11840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708"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b="1" kern="1200" dirty="0"/>
            <a:t>Full API Protection (Akamai Noname, Salt)</a:t>
          </a:r>
          <a:endParaRPr lang="en-US" sz="1700" kern="1200" dirty="0"/>
        </a:p>
        <a:p>
          <a:pPr marL="342900" lvl="2" indent="-171450" algn="l" defTabSz="755650">
            <a:lnSpc>
              <a:spcPct val="90000"/>
            </a:lnSpc>
            <a:spcBef>
              <a:spcPct val="0"/>
            </a:spcBef>
            <a:spcAft>
              <a:spcPct val="20000"/>
            </a:spcAft>
            <a:buChar char="•"/>
          </a:pPr>
          <a:r>
            <a:rPr lang="en-US" sz="1700" kern="1200"/>
            <a:t>BOLA, schema validation, behavior detection</a:t>
          </a:r>
        </a:p>
        <a:p>
          <a:pPr marL="171450" lvl="1" indent="-171450" algn="l" defTabSz="755650">
            <a:lnSpc>
              <a:spcPct val="90000"/>
            </a:lnSpc>
            <a:spcBef>
              <a:spcPct val="0"/>
            </a:spcBef>
            <a:spcAft>
              <a:spcPct val="20000"/>
            </a:spcAft>
            <a:buChar char="•"/>
          </a:pPr>
          <a:r>
            <a:rPr lang="en-US" sz="1700" b="1" kern="1200"/>
            <a:t>Partial Protection (Kong, Traefik, ADC APIs)</a:t>
          </a:r>
          <a:endParaRPr lang="en-US" sz="1700" kern="1200"/>
        </a:p>
        <a:p>
          <a:pPr marL="342900" lvl="2" indent="-171450" algn="l" defTabSz="755650">
            <a:lnSpc>
              <a:spcPct val="90000"/>
            </a:lnSpc>
            <a:spcBef>
              <a:spcPct val="0"/>
            </a:spcBef>
            <a:spcAft>
              <a:spcPct val="20000"/>
            </a:spcAft>
            <a:buChar char="•"/>
          </a:pPr>
          <a:r>
            <a:rPr lang="en-US" sz="1700" kern="1200"/>
            <a:t>CORS, rate limiting, bot filters only</a:t>
          </a:r>
        </a:p>
      </dsp:txBody>
      <dsp:txXfrm>
        <a:off x="0" y="3741937"/>
        <a:ext cx="5502614" cy="1184040"/>
      </dsp:txXfrm>
    </dsp:sp>
    <dsp:sp modelId="{C2A8581F-5867-4045-A78F-57FB641B45AA}">
      <dsp:nvSpPr>
        <dsp:cNvPr id="0" name=""/>
        <dsp:cNvSpPr/>
      </dsp:nvSpPr>
      <dsp:spPr>
        <a:xfrm>
          <a:off x="0" y="4925977"/>
          <a:ext cx="5502614" cy="52767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a:t>3 — Discovery or Blind Spots?</a:t>
          </a:r>
          <a:endParaRPr lang="en-US" sz="2200" kern="1200"/>
        </a:p>
      </dsp:txBody>
      <dsp:txXfrm>
        <a:off x="25759" y="4951736"/>
        <a:ext cx="5451096" cy="476152"/>
      </dsp:txXfrm>
    </dsp:sp>
    <dsp:sp modelId="{B0F7EFC5-1B2F-C447-9A0B-D0B4573BD1F4}">
      <dsp:nvSpPr>
        <dsp:cNvPr id="0" name=""/>
        <dsp:cNvSpPr/>
      </dsp:nvSpPr>
      <dsp:spPr>
        <a:xfrm>
          <a:off x="0" y="5453647"/>
          <a:ext cx="5502614" cy="3643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708"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dirty="0"/>
            <a:t>Can your system </a:t>
          </a:r>
          <a:r>
            <a:rPr lang="en-US" sz="1700" b="1" kern="1200" dirty="0"/>
            <a:t>auto-detect Shadow APIs</a:t>
          </a:r>
          <a:r>
            <a:rPr lang="en-US" sz="1700" kern="1200" dirty="0"/>
            <a:t>?</a:t>
          </a:r>
        </a:p>
      </dsp:txBody>
      <dsp:txXfrm>
        <a:off x="0" y="5453647"/>
        <a:ext cx="5502614" cy="36432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731B08-B392-3A4F-AA04-14B9690D1B13}">
      <dsp:nvSpPr>
        <dsp:cNvPr id="0" name=""/>
        <dsp:cNvSpPr/>
      </dsp:nvSpPr>
      <dsp:spPr>
        <a:xfrm>
          <a:off x="0" y="3593750"/>
          <a:ext cx="5502614" cy="2357889"/>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US" sz="2100" kern="1200"/>
            <a:t>Most gateways and basic API protections validate the token and stop there.  They don’t check things like:</a:t>
          </a:r>
        </a:p>
      </dsp:txBody>
      <dsp:txXfrm>
        <a:off x="0" y="3593750"/>
        <a:ext cx="5502614" cy="1273260"/>
      </dsp:txXfrm>
    </dsp:sp>
    <dsp:sp modelId="{B645EFDF-FA32-044D-A534-3922D817FBCC}">
      <dsp:nvSpPr>
        <dsp:cNvPr id="0" name=""/>
        <dsp:cNvSpPr/>
      </dsp:nvSpPr>
      <dsp:spPr>
        <a:xfrm>
          <a:off x="2686" y="4819853"/>
          <a:ext cx="1832413" cy="1084629"/>
        </a:xfrm>
        <a:prstGeom prst="rect">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9050" rIns="106680" bIns="19050" numCol="1" spcCol="1270" anchor="ctr" anchorCtr="0">
          <a:noAutofit/>
        </a:bodyPr>
        <a:lstStyle/>
        <a:p>
          <a:pPr marL="0" lvl="0" indent="0" algn="ctr" defTabSz="666750">
            <a:lnSpc>
              <a:spcPct val="90000"/>
            </a:lnSpc>
            <a:spcBef>
              <a:spcPct val="0"/>
            </a:spcBef>
            <a:spcAft>
              <a:spcPct val="35000"/>
            </a:spcAft>
            <a:buNone/>
          </a:pPr>
          <a:r>
            <a:rPr lang="en-US" sz="1500" kern="1200"/>
            <a:t>Is this user supposed to access this specific object?</a:t>
          </a:r>
        </a:p>
      </dsp:txBody>
      <dsp:txXfrm>
        <a:off x="2686" y="4819853"/>
        <a:ext cx="1832413" cy="1084629"/>
      </dsp:txXfrm>
    </dsp:sp>
    <dsp:sp modelId="{4472FCFD-892D-5F44-8C8D-B366B89D134B}">
      <dsp:nvSpPr>
        <dsp:cNvPr id="0" name=""/>
        <dsp:cNvSpPr/>
      </dsp:nvSpPr>
      <dsp:spPr>
        <a:xfrm>
          <a:off x="1835100" y="4819853"/>
          <a:ext cx="1832413" cy="1084629"/>
        </a:xfrm>
        <a:prstGeom prst="rect">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9050" rIns="106680" bIns="19050" numCol="1" spcCol="1270" anchor="ctr" anchorCtr="0">
          <a:noAutofit/>
        </a:bodyPr>
        <a:lstStyle/>
        <a:p>
          <a:pPr marL="0" lvl="0" indent="0" algn="ctr" defTabSz="666750">
            <a:lnSpc>
              <a:spcPct val="90000"/>
            </a:lnSpc>
            <a:spcBef>
              <a:spcPct val="0"/>
            </a:spcBef>
            <a:spcAft>
              <a:spcPct val="35000"/>
            </a:spcAft>
            <a:buNone/>
          </a:pPr>
          <a:r>
            <a:rPr lang="en-US" sz="1500" kern="1200"/>
            <a:t>Does this request match normal behavior?</a:t>
          </a:r>
        </a:p>
      </dsp:txBody>
      <dsp:txXfrm>
        <a:off x="1835100" y="4819853"/>
        <a:ext cx="1832413" cy="1084629"/>
      </dsp:txXfrm>
    </dsp:sp>
    <dsp:sp modelId="{9C4969D0-E012-744C-A135-2311B33868B0}">
      <dsp:nvSpPr>
        <dsp:cNvPr id="0" name=""/>
        <dsp:cNvSpPr/>
      </dsp:nvSpPr>
      <dsp:spPr>
        <a:xfrm>
          <a:off x="3667513" y="4819853"/>
          <a:ext cx="1832413" cy="1084629"/>
        </a:xfrm>
        <a:prstGeom prst="rect">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9050" rIns="106680" bIns="19050" numCol="1" spcCol="1270" anchor="ctr" anchorCtr="0">
          <a:noAutofit/>
        </a:bodyPr>
        <a:lstStyle/>
        <a:p>
          <a:pPr marL="0" lvl="0" indent="0" algn="ctr" defTabSz="666750">
            <a:lnSpc>
              <a:spcPct val="90000"/>
            </a:lnSpc>
            <a:spcBef>
              <a:spcPct val="0"/>
            </a:spcBef>
            <a:spcAft>
              <a:spcPct val="35000"/>
            </a:spcAft>
            <a:buNone/>
          </a:pPr>
          <a:r>
            <a:rPr lang="en-US" sz="1500" kern="1200"/>
            <a:t>Is this parameter referencing someone else’s data?</a:t>
          </a:r>
        </a:p>
      </dsp:txBody>
      <dsp:txXfrm>
        <a:off x="3667513" y="4819853"/>
        <a:ext cx="1832413" cy="1084629"/>
      </dsp:txXfrm>
    </dsp:sp>
    <dsp:sp modelId="{09F2871C-39F5-5742-9DF7-0855EB8DEFD7}">
      <dsp:nvSpPr>
        <dsp:cNvPr id="0" name=""/>
        <dsp:cNvSpPr/>
      </dsp:nvSpPr>
      <dsp:spPr>
        <a:xfrm rot="10800000">
          <a:off x="0" y="2684"/>
          <a:ext cx="5502614" cy="3626433"/>
        </a:xfrm>
        <a:prstGeom prst="upArrowCallou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9352" tIns="149352" rIns="149352" bIns="149352" numCol="1" spcCol="1270" anchor="ctr" anchorCtr="0">
          <a:noAutofit/>
        </a:bodyPr>
        <a:lstStyle/>
        <a:p>
          <a:pPr marL="0" lvl="0" indent="0" algn="ctr" defTabSz="933450">
            <a:lnSpc>
              <a:spcPct val="90000"/>
            </a:lnSpc>
            <a:spcBef>
              <a:spcPct val="0"/>
            </a:spcBef>
            <a:spcAft>
              <a:spcPct val="35000"/>
            </a:spcAft>
            <a:buNone/>
          </a:pPr>
          <a:r>
            <a:rPr lang="en-US" sz="2100" i="1" kern="1200"/>
            <a:t>Many API incidents don’t happen because authentication fails. They happen because authorization fails.</a:t>
          </a:r>
          <a:endParaRPr lang="en-US" sz="2100" kern="1200"/>
        </a:p>
      </dsp:txBody>
      <dsp:txXfrm rot="10800000">
        <a:off x="0" y="2684"/>
        <a:ext cx="5502614" cy="235634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2774ED-CD17-7D40-BFC1-BCCFEEA937EB}">
      <dsp:nvSpPr>
        <dsp:cNvPr id="0" name=""/>
        <dsp:cNvSpPr/>
      </dsp:nvSpPr>
      <dsp:spPr>
        <a:xfrm>
          <a:off x="0" y="5693"/>
          <a:ext cx="6391275" cy="839474"/>
        </a:xfrm>
        <a:prstGeom prst="round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b="1" kern="1200"/>
            <a:t>Broken Access Control</a:t>
          </a:r>
          <a:endParaRPr lang="en-US" sz="3500" kern="1200"/>
        </a:p>
      </dsp:txBody>
      <dsp:txXfrm>
        <a:off x="40980" y="46673"/>
        <a:ext cx="6309315" cy="757514"/>
      </dsp:txXfrm>
    </dsp:sp>
    <dsp:sp modelId="{A7B44521-C3B9-5D47-998A-FD6B9F0AEFC5}">
      <dsp:nvSpPr>
        <dsp:cNvPr id="0" name=""/>
        <dsp:cNvSpPr/>
      </dsp:nvSpPr>
      <dsp:spPr>
        <a:xfrm>
          <a:off x="0" y="845168"/>
          <a:ext cx="6391275" cy="8512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2923" tIns="44450" rIns="248920" bIns="44450" numCol="1" spcCol="1270" anchor="t" anchorCtr="0">
          <a:noAutofit/>
        </a:bodyPr>
        <a:lstStyle/>
        <a:p>
          <a:pPr marL="228600" lvl="1" indent="-228600" algn="l" defTabSz="1200150">
            <a:lnSpc>
              <a:spcPct val="90000"/>
            </a:lnSpc>
            <a:spcBef>
              <a:spcPct val="0"/>
            </a:spcBef>
            <a:spcAft>
              <a:spcPct val="20000"/>
            </a:spcAft>
            <a:buChar char="•"/>
          </a:pPr>
          <a:r>
            <a:rPr lang="en-US" sz="2700" kern="1200"/>
            <a:t>BOLA, Mass Assignment, privilege escalation</a:t>
          </a:r>
        </a:p>
      </dsp:txBody>
      <dsp:txXfrm>
        <a:off x="0" y="845168"/>
        <a:ext cx="6391275" cy="851287"/>
      </dsp:txXfrm>
    </dsp:sp>
    <dsp:sp modelId="{AB49D20B-B504-CC41-A421-FA9E65F28E71}">
      <dsp:nvSpPr>
        <dsp:cNvPr id="0" name=""/>
        <dsp:cNvSpPr/>
      </dsp:nvSpPr>
      <dsp:spPr>
        <a:xfrm>
          <a:off x="0" y="1696456"/>
          <a:ext cx="6391275" cy="839474"/>
        </a:xfrm>
        <a:prstGeom prst="roundRect">
          <a:avLst/>
        </a:prstGeom>
        <a:solidFill>
          <a:schemeClr val="accent2">
            <a:hueOff val="-9882860"/>
            <a:satOff val="451"/>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b="1" kern="1200"/>
            <a:t>Excessive Data Exposure</a:t>
          </a:r>
          <a:endParaRPr lang="en-US" sz="3500" kern="1200"/>
        </a:p>
      </dsp:txBody>
      <dsp:txXfrm>
        <a:off x="40980" y="1737436"/>
        <a:ext cx="6309315" cy="757514"/>
      </dsp:txXfrm>
    </dsp:sp>
    <dsp:sp modelId="{ECFBD2B9-BF38-5D4F-B81E-FC0B915284C0}">
      <dsp:nvSpPr>
        <dsp:cNvPr id="0" name=""/>
        <dsp:cNvSpPr/>
      </dsp:nvSpPr>
      <dsp:spPr>
        <a:xfrm>
          <a:off x="0" y="2535930"/>
          <a:ext cx="6391275" cy="8512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2923" tIns="44450" rIns="248920" bIns="44450" numCol="1" spcCol="1270" anchor="t" anchorCtr="0">
          <a:noAutofit/>
        </a:bodyPr>
        <a:lstStyle/>
        <a:p>
          <a:pPr marL="228600" lvl="1" indent="-228600" algn="l" defTabSz="1200150">
            <a:lnSpc>
              <a:spcPct val="90000"/>
            </a:lnSpc>
            <a:spcBef>
              <a:spcPct val="0"/>
            </a:spcBef>
            <a:spcAft>
              <a:spcPct val="20000"/>
            </a:spcAft>
            <a:buChar char="•"/>
          </a:pPr>
          <a:r>
            <a:rPr lang="en-US" sz="2700" kern="1200"/>
            <a:t>APIs returning far more data than intended</a:t>
          </a:r>
        </a:p>
      </dsp:txBody>
      <dsp:txXfrm>
        <a:off x="0" y="2535930"/>
        <a:ext cx="6391275" cy="851287"/>
      </dsp:txXfrm>
    </dsp:sp>
    <dsp:sp modelId="{86B810C5-D6C0-D84A-9BFE-65E0F4E75F69}">
      <dsp:nvSpPr>
        <dsp:cNvPr id="0" name=""/>
        <dsp:cNvSpPr/>
      </dsp:nvSpPr>
      <dsp:spPr>
        <a:xfrm>
          <a:off x="0" y="3387218"/>
          <a:ext cx="6391275" cy="839474"/>
        </a:xfrm>
        <a:prstGeom prst="roundRect">
          <a:avLst/>
        </a:prstGeom>
        <a:solidFill>
          <a:schemeClr val="accent2">
            <a:hueOff val="-19765721"/>
            <a:satOff val="901"/>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b="1" kern="1200"/>
            <a:t>Weak Security Controls</a:t>
          </a:r>
          <a:endParaRPr lang="en-US" sz="3500" kern="1200"/>
        </a:p>
      </dsp:txBody>
      <dsp:txXfrm>
        <a:off x="40980" y="3428198"/>
        <a:ext cx="6309315" cy="757514"/>
      </dsp:txXfrm>
    </dsp:sp>
    <dsp:sp modelId="{7AFAFB62-496D-0345-A352-14AEB37485FE}">
      <dsp:nvSpPr>
        <dsp:cNvPr id="0" name=""/>
        <dsp:cNvSpPr/>
      </dsp:nvSpPr>
      <dsp:spPr>
        <a:xfrm>
          <a:off x="0" y="4226693"/>
          <a:ext cx="6391275" cy="10143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2923" tIns="20320" rIns="113792" bIns="20320" numCol="1" spcCol="1270" anchor="t" anchorCtr="0">
          <a:noAutofit/>
        </a:bodyPr>
        <a:lstStyle/>
        <a:p>
          <a:pPr marL="228600" lvl="1" indent="-228600" algn="l" defTabSz="1066800">
            <a:lnSpc>
              <a:spcPct val="90000"/>
            </a:lnSpc>
            <a:spcBef>
              <a:spcPct val="0"/>
            </a:spcBef>
            <a:spcAft>
              <a:spcPct val="20000"/>
            </a:spcAft>
            <a:buChar char="•"/>
          </a:pPr>
          <a:r>
            <a:rPr lang="en-US" sz="2400" kern="1200"/>
            <a:t>CORS misconfig, no rate limits, resource exhaustion</a:t>
          </a:r>
        </a:p>
        <a:p>
          <a:pPr marL="171450" lvl="1" indent="-171450" algn="l" defTabSz="711200">
            <a:lnSpc>
              <a:spcPct val="90000"/>
            </a:lnSpc>
            <a:spcBef>
              <a:spcPct val="0"/>
            </a:spcBef>
            <a:spcAft>
              <a:spcPct val="20000"/>
            </a:spcAft>
            <a:buNone/>
          </a:pPr>
          <a:r>
            <a:rPr lang="en-US" sz="1600" i="1" kern="1200" dirty="0">
              <a:solidFill>
                <a:prstClr val="black">
                  <a:hueOff val="0"/>
                  <a:satOff val="0"/>
                  <a:lumOff val="0"/>
                  <a:alphaOff val="0"/>
                </a:prstClr>
              </a:solidFill>
              <a:latin typeface="Century Gothic" panose="020B0502020202020204"/>
              <a:ea typeface="+mn-ea"/>
              <a:cs typeface="+mn-cs"/>
            </a:rPr>
            <a:t>https://</a:t>
          </a:r>
          <a:r>
            <a:rPr lang="en-US" sz="1600" i="1" kern="1200" dirty="0" err="1">
              <a:solidFill>
                <a:prstClr val="black">
                  <a:hueOff val="0"/>
                  <a:satOff val="0"/>
                  <a:lumOff val="0"/>
                  <a:alphaOff val="0"/>
                </a:prstClr>
              </a:solidFill>
              <a:latin typeface="Century Gothic" panose="020B0502020202020204"/>
              <a:ea typeface="+mn-ea"/>
              <a:cs typeface="+mn-cs"/>
            </a:rPr>
            <a:t>owasp.org</a:t>
          </a:r>
          <a:r>
            <a:rPr lang="en-US" sz="1600" i="1" kern="1200" dirty="0">
              <a:solidFill>
                <a:prstClr val="black">
                  <a:hueOff val="0"/>
                  <a:satOff val="0"/>
                  <a:lumOff val="0"/>
                  <a:alphaOff val="0"/>
                </a:prstClr>
              </a:solidFill>
              <a:latin typeface="Century Gothic" panose="020B0502020202020204"/>
              <a:ea typeface="+mn-ea"/>
              <a:cs typeface="+mn-cs"/>
            </a:rPr>
            <a:t>/API-Security/editions/2023/</a:t>
          </a:r>
          <a:r>
            <a:rPr lang="en-US" sz="1600" i="1" kern="1200" dirty="0" err="1">
              <a:solidFill>
                <a:prstClr val="black">
                  <a:hueOff val="0"/>
                  <a:satOff val="0"/>
                  <a:lumOff val="0"/>
                  <a:alphaOff val="0"/>
                </a:prstClr>
              </a:solidFill>
              <a:latin typeface="Century Gothic" panose="020B0502020202020204"/>
              <a:ea typeface="+mn-ea"/>
              <a:cs typeface="+mn-cs"/>
            </a:rPr>
            <a:t>en</a:t>
          </a:r>
          <a:r>
            <a:rPr lang="en-US" sz="1600" i="1" kern="1200" dirty="0">
              <a:solidFill>
                <a:prstClr val="black">
                  <a:hueOff val="0"/>
                  <a:satOff val="0"/>
                  <a:lumOff val="0"/>
                  <a:alphaOff val="0"/>
                </a:prstClr>
              </a:solidFill>
              <a:latin typeface="Century Gothic" panose="020B0502020202020204"/>
              <a:ea typeface="+mn-ea"/>
              <a:cs typeface="+mn-cs"/>
            </a:rPr>
            <a:t>/0x11-t10/</a:t>
          </a:r>
        </a:p>
      </dsp:txBody>
      <dsp:txXfrm>
        <a:off x="0" y="4226693"/>
        <a:ext cx="6391275" cy="101430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169F99-335E-DE40-BB78-D53D2A4B9F2D}" type="datetimeFigureOut">
              <a:rPr lang="en-US" smtClean="0"/>
              <a:t>11/24/25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5394C2-D719-5D40-8526-810E117E81A3}" type="slidenum">
              <a:rPr lang="en-US" smtClean="0"/>
              <a:t>‹#›</a:t>
            </a:fld>
            <a:endParaRPr lang="en-US"/>
          </a:p>
        </p:txBody>
      </p:sp>
    </p:spTree>
    <p:extLst>
      <p:ext uri="{BB962C8B-B14F-4D97-AF65-F5344CB8AC3E}">
        <p14:creationId xmlns:p14="http://schemas.microsoft.com/office/powerpoint/2010/main" val="8761420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According to a 2024 survey of more than 1,200 security professionals, </a:t>
            </a:r>
            <a:r>
              <a:rPr lang="en-US" b="1" dirty="0"/>
              <a:t>84% reported experiencing an API-security incident in the last 12 months</a:t>
            </a:r>
            <a:r>
              <a:rPr lang="en-US" dirty="0"/>
              <a:t>.</a:t>
            </a:r>
          </a:p>
          <a:p>
            <a:r>
              <a:rPr lang="en-US" dirty="0"/>
              <a:t>That statistic tells us that APIs aren’t just a theoretical risk—they’re actively being hit.</a:t>
            </a:r>
          </a:p>
          <a:p>
            <a:br>
              <a:rPr lang="en-US" dirty="0"/>
            </a:br>
            <a:endParaRPr lang="en-US" dirty="0"/>
          </a:p>
          <a:p>
            <a:r>
              <a:rPr lang="en-US" dirty="0"/>
              <a:t>So what kind of issues are we talking about?</a:t>
            </a:r>
          </a:p>
          <a:p>
            <a:r>
              <a:rPr lang="en-US" dirty="0"/>
              <a:t>Everything from customer-data exposure to misuse of internal services, plus the financial side: regulatory penalties and remediation costs that can exceed </a:t>
            </a:r>
            <a:r>
              <a:rPr lang="en-US" b="1" dirty="0"/>
              <a:t>half a million dollars</a:t>
            </a:r>
            <a:r>
              <a:rPr lang="en-US" dirty="0"/>
              <a:t> per incident.</a:t>
            </a:r>
          </a:p>
          <a:p>
            <a:br>
              <a:rPr lang="en-US" dirty="0"/>
            </a:br>
            <a:endParaRPr lang="en-US" dirty="0"/>
          </a:p>
          <a:p>
            <a:r>
              <a:rPr lang="en-US" dirty="0"/>
              <a:t>This presentation walks through why APIs have become such a common attack surface, what API gateways can help with, where full API security platforms add protection, and how attackers exploit these weaknesses in practice.</a:t>
            </a:r>
          </a:p>
          <a:p>
            <a:r>
              <a:rPr lang="en-US" dirty="0"/>
              <a:t>I’ll also walk through a live demo showing real API vulnerabilities and protections.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1C5394C2-D719-5D40-8526-810E117E81A3}" type="slidenum">
              <a:rPr lang="en-US" smtClean="0"/>
              <a:t>1</a:t>
            </a:fld>
            <a:endParaRPr lang="en-US"/>
          </a:p>
        </p:txBody>
      </p:sp>
    </p:spTree>
    <p:extLst>
      <p:ext uri="{BB962C8B-B14F-4D97-AF65-F5344CB8AC3E}">
        <p14:creationId xmlns:p14="http://schemas.microsoft.com/office/powerpoint/2010/main" val="27778883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APIs have become the backbone of modern applications.</a:t>
            </a:r>
          </a:p>
          <a:p>
            <a:r>
              <a:rPr lang="en-US" dirty="0"/>
              <a:t>The sheer number of APIs—especially internal ones—creates a visibility gap.</a:t>
            </a:r>
          </a:p>
          <a:p>
            <a:r>
              <a:rPr lang="en-US" dirty="0"/>
              <a:t>Most organizations underestimate the number of APIs they are actually exposing, which is where attackers begin.</a:t>
            </a:r>
          </a:p>
          <a:p>
            <a:endParaRPr lang="en-US" b="1" dirty="0"/>
          </a:p>
        </p:txBody>
      </p:sp>
      <p:sp>
        <p:nvSpPr>
          <p:cNvPr id="4" name="Slide Number Placeholder 3"/>
          <p:cNvSpPr>
            <a:spLocks noGrp="1"/>
          </p:cNvSpPr>
          <p:nvPr>
            <p:ph type="sldNum" sz="quarter" idx="5"/>
          </p:nvPr>
        </p:nvSpPr>
        <p:spPr/>
        <p:txBody>
          <a:bodyPr/>
          <a:lstStyle/>
          <a:p>
            <a:fld id="{1C5394C2-D719-5D40-8526-810E117E81A3}" type="slidenum">
              <a:rPr lang="en-US" smtClean="0"/>
              <a:t>2</a:t>
            </a:fld>
            <a:endParaRPr lang="en-US"/>
          </a:p>
        </p:txBody>
      </p:sp>
    </p:spTree>
    <p:extLst>
      <p:ext uri="{BB962C8B-B14F-4D97-AF65-F5344CB8AC3E}">
        <p14:creationId xmlns:p14="http://schemas.microsoft.com/office/powerpoint/2010/main" val="11578991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C5394C2-D719-5D40-8526-810E117E81A3}" type="slidenum">
              <a:rPr lang="en-US" smtClean="0"/>
              <a:t>3</a:t>
            </a:fld>
            <a:endParaRPr lang="en-US"/>
          </a:p>
        </p:txBody>
      </p:sp>
    </p:spTree>
    <p:extLst>
      <p:ext uri="{BB962C8B-B14F-4D97-AF65-F5344CB8AC3E}">
        <p14:creationId xmlns:p14="http://schemas.microsoft.com/office/powerpoint/2010/main" val="291970050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Attackers don’t care which API style you use—REST, </a:t>
            </a:r>
            <a:r>
              <a:rPr lang="en-US" dirty="0" err="1"/>
              <a:t>GraphQL</a:t>
            </a:r>
            <a:r>
              <a:rPr lang="en-US" dirty="0"/>
              <a:t>, </a:t>
            </a:r>
            <a:r>
              <a:rPr lang="en-US" dirty="0" err="1"/>
              <a:t>gRPC</a:t>
            </a:r>
            <a:r>
              <a:rPr lang="en-US" dirty="0"/>
              <a:t>, SOAP—they all have similar risks.</a:t>
            </a:r>
          </a:p>
          <a:p>
            <a:r>
              <a:rPr lang="en-US" dirty="0"/>
              <a:t>Anything that exposes structured data or functions can be targeted.</a:t>
            </a:r>
          </a:p>
          <a:p>
            <a:endParaRPr lang="en-US" dirty="0"/>
          </a:p>
          <a:p>
            <a:r>
              <a:rPr lang="en-US" b="1" dirty="0" err="1"/>
              <a:t>uAsync</a:t>
            </a:r>
            <a:r>
              <a:rPr lang="en-US" b="1" dirty="0"/>
              <a:t> APIs</a:t>
            </a:r>
            <a:r>
              <a:rPr lang="en-US" dirty="0"/>
              <a:t>: APIs that accept a request immediately and process it in the background, notifying the client later instead of blocking for a response. </a:t>
            </a:r>
          </a:p>
          <a:p>
            <a:r>
              <a:rPr lang="en-US" b="1" dirty="0"/>
              <a:t>Webhooks</a:t>
            </a:r>
            <a:r>
              <a:rPr lang="en-US" dirty="0"/>
              <a:t>: HTTP callbacks that push real-time event data from a source system to your URL the moment something happens. </a:t>
            </a:r>
          </a:p>
          <a:p>
            <a:r>
              <a:rPr lang="en-US" b="1" dirty="0"/>
              <a:t>Message Bus</a:t>
            </a:r>
            <a:r>
              <a:rPr lang="en-US" dirty="0"/>
              <a:t>: A centralized messaging backbone (e.g., Kafka, RabbitMQ) that reliably routes, queues, and delivers events between services or applications.</a:t>
            </a:r>
          </a:p>
        </p:txBody>
      </p:sp>
      <p:sp>
        <p:nvSpPr>
          <p:cNvPr id="4" name="Slide Number Placeholder 3"/>
          <p:cNvSpPr>
            <a:spLocks noGrp="1"/>
          </p:cNvSpPr>
          <p:nvPr>
            <p:ph type="sldNum" sz="quarter" idx="5"/>
          </p:nvPr>
        </p:nvSpPr>
        <p:spPr/>
        <p:txBody>
          <a:bodyPr/>
          <a:lstStyle/>
          <a:p>
            <a:fld id="{1C5394C2-D719-5D40-8526-810E117E81A3}" type="slidenum">
              <a:rPr lang="en-US" smtClean="0"/>
              <a:t>4</a:t>
            </a:fld>
            <a:endParaRPr lang="en-US"/>
          </a:p>
        </p:txBody>
      </p:sp>
    </p:spTree>
    <p:extLst>
      <p:ext uri="{BB962C8B-B14F-4D97-AF65-F5344CB8AC3E}">
        <p14:creationId xmlns:p14="http://schemas.microsoft.com/office/powerpoint/2010/main" val="13358268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focused purely on </a:t>
            </a:r>
            <a:r>
              <a:rPr lang="en-US" i="1" dirty="0"/>
              <a:t>how</a:t>
            </a:r>
            <a:r>
              <a:rPr lang="en-US" dirty="0"/>
              <a:t> API security is deployed—not what any specific vendor does.</a:t>
            </a:r>
          </a:p>
          <a:p>
            <a:br>
              <a:rPr lang="en-US" dirty="0"/>
            </a:br>
            <a:endParaRPr lang="en-US" dirty="0"/>
          </a:p>
          <a:p>
            <a:r>
              <a:rPr lang="en-US" dirty="0"/>
              <a:t>There are two core technical models:</a:t>
            </a:r>
          </a:p>
          <a:p>
            <a:br>
              <a:rPr lang="en-US" dirty="0"/>
            </a:br>
            <a:endParaRPr lang="en-US" dirty="0"/>
          </a:p>
          <a:p>
            <a:r>
              <a:rPr lang="en-US" b="1" dirty="0"/>
              <a:t>Inline</a:t>
            </a:r>
            <a:r>
              <a:rPr lang="en-US" dirty="0"/>
              <a:t> security sits in front of APIs and enforces rules in real time. It’s powerful for blocking but can introduce latency and requires careful routing and reliability considerations.</a:t>
            </a:r>
          </a:p>
          <a:p>
            <a:br>
              <a:rPr lang="en-US" dirty="0"/>
            </a:br>
            <a:endParaRPr lang="en-US" dirty="0"/>
          </a:p>
          <a:p>
            <a:r>
              <a:rPr lang="en-US" b="1" dirty="0"/>
              <a:t>Out-of-band</a:t>
            </a:r>
            <a:r>
              <a:rPr lang="en-US" dirty="0"/>
              <a:t> security mirrors traffic instead of intercepting it. This gives full visibility with zero performance impact and works extremely well in Kubernetes and microservice environments. Blocking still happens, but it’s triggered through your gateway, WAF, or SOAR system.</a:t>
            </a:r>
          </a:p>
          <a:p>
            <a:br>
              <a:rPr lang="en-US" dirty="0"/>
            </a:br>
            <a:endParaRPr lang="en-US" dirty="0"/>
          </a:p>
          <a:p>
            <a:r>
              <a:rPr lang="en-US" dirty="0"/>
              <a:t>Once you understand the deployment model, the next question is </a:t>
            </a:r>
            <a:r>
              <a:rPr lang="en-US" b="1" dirty="0"/>
              <a:t>protection level</a:t>
            </a:r>
            <a:r>
              <a:rPr lang="en-US" dirty="0"/>
              <a:t>:</a:t>
            </a:r>
          </a:p>
          <a:p>
            <a:r>
              <a:rPr lang="en-US" dirty="0"/>
              <a:t>API gateways generally offer </a:t>
            </a:r>
            <a:r>
              <a:rPr lang="en-US" i="1" dirty="0"/>
              <a:t>partial</a:t>
            </a:r>
            <a:r>
              <a:rPr lang="en-US" dirty="0"/>
              <a:t> protection—good at rate limits and coarse controls—but they lack the depth for logic-level issues.</a:t>
            </a:r>
          </a:p>
          <a:p>
            <a:r>
              <a:rPr lang="en-US" dirty="0"/>
              <a:t>Full platforms add behavioral analysis, object-relationship awareness, authorization context, and anomaly detection.</a:t>
            </a:r>
          </a:p>
          <a:p>
            <a:br>
              <a:rPr lang="en-US" dirty="0"/>
            </a:br>
            <a:endParaRPr lang="en-US" dirty="0"/>
          </a:p>
          <a:p>
            <a:r>
              <a:rPr lang="en-US" dirty="0"/>
              <a:t>The final piece is </a:t>
            </a:r>
            <a:r>
              <a:rPr lang="en-US" b="1" dirty="0"/>
              <a:t>discovery</a:t>
            </a:r>
            <a:r>
              <a:rPr lang="en-US" dirty="0"/>
              <a:t>.</a:t>
            </a:r>
          </a:p>
          <a:p>
            <a:r>
              <a:rPr lang="en-US" dirty="0"/>
              <a:t>Most breaches begin with APIs the organization didn’t know they were exposing—internal services, legacy endpoints, developer/test APIs, or routes left behind after a code refactor.</a:t>
            </a:r>
          </a:p>
          <a:p>
            <a:r>
              <a:rPr lang="en-US" dirty="0"/>
              <a:t>Discovery is the foundation for any API security strategy.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1C5394C2-D719-5D40-8526-810E117E81A3}" type="slidenum">
              <a:rPr lang="en-US" smtClean="0"/>
              <a:t>5</a:t>
            </a:fld>
            <a:endParaRPr lang="en-US"/>
          </a:p>
        </p:txBody>
      </p:sp>
    </p:spTree>
    <p:extLst>
      <p:ext uri="{BB962C8B-B14F-4D97-AF65-F5344CB8AC3E}">
        <p14:creationId xmlns:p14="http://schemas.microsoft.com/office/powerpoint/2010/main" val="17467397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talked about API growth, deployment approaches, and even the attack chain. But there’s a specific reason why attacks like BOLA keep succeeding, even in environments with good authentication, good gateways, and good traffic controls.”</a:t>
            </a:r>
          </a:p>
          <a:p>
            <a:endParaRPr lang="en-US" dirty="0"/>
          </a:p>
          <a:p>
            <a:r>
              <a:rPr lang="en-US" dirty="0"/>
              <a:t>“Here’s the core issue: most API incidents don’t happen because authentication fails.</a:t>
            </a:r>
          </a:p>
          <a:p>
            <a:r>
              <a:rPr lang="en-US" dirty="0"/>
              <a:t>They happen because </a:t>
            </a:r>
            <a:r>
              <a:rPr lang="en-US" b="1" dirty="0"/>
              <a:t>authorization</a:t>
            </a:r>
            <a:r>
              <a:rPr lang="en-US" dirty="0"/>
              <a:t> fails.</a:t>
            </a:r>
          </a:p>
          <a:p>
            <a:br>
              <a:rPr lang="en-US" dirty="0"/>
            </a:br>
            <a:endParaRPr lang="en-US" dirty="0"/>
          </a:p>
          <a:p>
            <a:r>
              <a:rPr lang="en-US" dirty="0"/>
              <a:t>When an attacker logs into an API with a valid JWT or OAuth token, the system assumes the request is trustworthy — but the token only proves </a:t>
            </a:r>
            <a:r>
              <a:rPr lang="en-US" i="1" dirty="0"/>
              <a:t>who</a:t>
            </a:r>
            <a:r>
              <a:rPr lang="en-US" dirty="0"/>
              <a:t> they are, not </a:t>
            </a:r>
            <a:r>
              <a:rPr lang="en-US" i="1" dirty="0"/>
              <a:t>what they should be allowed to do</a:t>
            </a:r>
            <a:r>
              <a:rPr lang="en-US" dirty="0"/>
              <a:t>.</a:t>
            </a:r>
          </a:p>
          <a:p>
            <a:br>
              <a:rPr lang="en-US" dirty="0"/>
            </a:br>
            <a:endParaRPr lang="en-US" dirty="0"/>
          </a:p>
          <a:p>
            <a:r>
              <a:rPr lang="en-US" dirty="0"/>
              <a:t>Most gateways and basic API protections validate the token and stop there.</a:t>
            </a:r>
          </a:p>
          <a:p>
            <a:r>
              <a:rPr lang="en-US" dirty="0"/>
              <a:t>They don’t check things like:</a:t>
            </a:r>
          </a:p>
          <a:p>
            <a:r>
              <a:rPr lang="en-US" i="1" dirty="0"/>
              <a:t>Is this user supposed to access this specific object?</a:t>
            </a:r>
            <a:endParaRPr lang="en-US" dirty="0"/>
          </a:p>
          <a:p>
            <a:r>
              <a:rPr lang="en-US" i="1" dirty="0"/>
              <a:t>Does this request match normal behavior?</a:t>
            </a:r>
            <a:endParaRPr lang="en-US" dirty="0"/>
          </a:p>
          <a:p>
            <a:r>
              <a:rPr lang="en-US" i="1" dirty="0"/>
              <a:t>Is this parameter referencing someone else’s data?</a:t>
            </a:r>
            <a:endParaRPr lang="en-US" dirty="0"/>
          </a:p>
          <a:p>
            <a:br>
              <a:rPr lang="en-US" dirty="0"/>
            </a:br>
            <a:endParaRPr lang="en-US" dirty="0"/>
          </a:p>
          <a:p>
            <a:r>
              <a:rPr lang="en-US" dirty="0"/>
              <a:t>That gap between authentication and authorization is exactly what makes attacks like BOLA, Mass Assignment, and Excessive Data Exposure so common.</a:t>
            </a:r>
          </a:p>
          <a:p>
            <a:endParaRPr lang="en-US" dirty="0"/>
          </a:p>
          <a:p>
            <a:endParaRPr lang="en-US" dirty="0"/>
          </a:p>
        </p:txBody>
      </p:sp>
      <p:sp>
        <p:nvSpPr>
          <p:cNvPr id="4" name="Slide Number Placeholder 3"/>
          <p:cNvSpPr>
            <a:spLocks noGrp="1"/>
          </p:cNvSpPr>
          <p:nvPr>
            <p:ph type="sldNum" sz="quarter" idx="5"/>
          </p:nvPr>
        </p:nvSpPr>
        <p:spPr/>
        <p:txBody>
          <a:bodyPr/>
          <a:lstStyle/>
          <a:p>
            <a:fld id="{1C5394C2-D719-5D40-8526-810E117E81A3}" type="slidenum">
              <a:rPr lang="en-US" smtClean="0"/>
              <a:t>6</a:t>
            </a:fld>
            <a:endParaRPr lang="en-US"/>
          </a:p>
        </p:txBody>
      </p:sp>
    </p:spTree>
    <p:extLst>
      <p:ext uri="{BB962C8B-B14F-4D97-AF65-F5344CB8AC3E}">
        <p14:creationId xmlns:p14="http://schemas.microsoft.com/office/powerpoint/2010/main" val="21694461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not theoretical or niche cases.</a:t>
            </a:r>
          </a:p>
          <a:p>
            <a:r>
              <a:rPr lang="en-US" dirty="0"/>
              <a:t>These are the issues that regularly bypass WAFs, firewalls, and unconfigured API gateways</a:t>
            </a:r>
          </a:p>
          <a:p>
            <a:endParaRPr lang="en-US" dirty="0"/>
          </a:p>
          <a:p>
            <a:r>
              <a:rPr lang="en-US" b="1" dirty="0"/>
              <a:t>Purpose of CORS</a:t>
            </a:r>
          </a:p>
          <a:p>
            <a:br>
              <a:rPr lang="en-US" dirty="0"/>
            </a:br>
            <a:endParaRPr lang="en-US" dirty="0"/>
          </a:p>
          <a:p>
            <a:r>
              <a:rPr lang="en-US" b="1" dirty="0"/>
              <a:t>Browsers block requests between different domains by default for security.</a:t>
            </a:r>
            <a:endParaRPr lang="en-US" dirty="0"/>
          </a:p>
          <a:p>
            <a:r>
              <a:rPr lang="en-US" b="1" dirty="0"/>
              <a:t>CORS provides a controlled, safe way to allow those cross-domain requests when needed.</a:t>
            </a:r>
            <a:endParaRPr lang="en-US" dirty="0"/>
          </a:p>
          <a:p>
            <a:br>
              <a:rPr lang="en-US" dirty="0"/>
            </a:br>
            <a:endParaRPr lang="en-US" dirty="0"/>
          </a:p>
          <a:p>
            <a:r>
              <a:rPr lang="en-US" b="1" dirty="0"/>
              <a:t>Real-World Use Cases</a:t>
            </a:r>
          </a:p>
          <a:p>
            <a:r>
              <a:rPr lang="en-US" dirty="0"/>
              <a:t>Allowing your frontend app on </a:t>
            </a:r>
            <a:r>
              <a:rPr lang="en-US" b="1" dirty="0" err="1"/>
              <a:t>app.company.com</a:t>
            </a:r>
            <a:r>
              <a:rPr lang="en-US" dirty="0"/>
              <a:t> to call an API on </a:t>
            </a:r>
            <a:r>
              <a:rPr lang="en-US" b="1" dirty="0" err="1"/>
              <a:t>api.company.com</a:t>
            </a:r>
            <a:endParaRPr lang="en-US" dirty="0"/>
          </a:p>
          <a:p>
            <a:r>
              <a:rPr lang="en-US" dirty="0"/>
              <a:t>Letting a third-party service access your API safely</a:t>
            </a:r>
          </a:p>
          <a:p>
            <a:r>
              <a:rPr lang="en-US" dirty="0"/>
              <a:t>Preventing malicious websites from making unauthorized requests to your server</a:t>
            </a:r>
          </a:p>
          <a:p>
            <a:r>
              <a:rPr lang="en-US" dirty="0"/>
              <a:t>Enforcing rules like which HTTP methods are allowed (GET, POST, etc.)</a:t>
            </a:r>
          </a:p>
          <a:p>
            <a:br>
              <a:rPr lang="en-US" dirty="0"/>
            </a:br>
            <a:endParaRPr lang="en-US" dirty="0"/>
          </a:p>
          <a:p>
            <a:r>
              <a:rPr lang="en-US" b="1" dirty="0"/>
              <a:t>In API Security Context</a:t>
            </a:r>
          </a:p>
          <a:p>
            <a:br>
              <a:rPr lang="en-US" dirty="0"/>
            </a:br>
            <a:endParaRPr lang="en-US" dirty="0"/>
          </a:p>
          <a:p>
            <a:r>
              <a:rPr lang="en-US" dirty="0"/>
              <a:t>CORS </a:t>
            </a:r>
            <a:r>
              <a:rPr lang="en-US" b="1" dirty="0"/>
              <a:t>reduces risk</a:t>
            </a:r>
            <a:r>
              <a:rPr lang="en-US" dirty="0"/>
              <a:t> by ensuring only approved origins (websites) can call your API from a browser.</a:t>
            </a:r>
          </a:p>
          <a:p>
            <a:r>
              <a:rPr lang="en-US" dirty="0"/>
              <a:t>But </a:t>
            </a:r>
            <a:r>
              <a:rPr lang="en-US" b="1" dirty="0"/>
              <a:t>it does NOT stop API attacks</a:t>
            </a:r>
            <a:r>
              <a:rPr lang="en-US" dirty="0"/>
              <a:t>, because attackers don’t use browsers—they use tools like curl, Postman, Burp Suite, etc.</a:t>
            </a:r>
          </a:p>
          <a:p>
            <a:endParaRPr lang="en-US" dirty="0"/>
          </a:p>
        </p:txBody>
      </p:sp>
      <p:sp>
        <p:nvSpPr>
          <p:cNvPr id="4" name="Slide Number Placeholder 3"/>
          <p:cNvSpPr>
            <a:spLocks noGrp="1"/>
          </p:cNvSpPr>
          <p:nvPr>
            <p:ph type="sldNum" sz="quarter" idx="5"/>
          </p:nvPr>
        </p:nvSpPr>
        <p:spPr/>
        <p:txBody>
          <a:bodyPr/>
          <a:lstStyle/>
          <a:p>
            <a:fld id="{1C5394C2-D719-5D40-8526-810E117E81A3}" type="slidenum">
              <a:rPr lang="en-US" smtClean="0"/>
              <a:t>7</a:t>
            </a:fld>
            <a:endParaRPr lang="en-US"/>
          </a:p>
        </p:txBody>
      </p:sp>
    </p:spTree>
    <p:extLst>
      <p:ext uri="{BB962C8B-B14F-4D97-AF65-F5344CB8AC3E}">
        <p14:creationId xmlns:p14="http://schemas.microsoft.com/office/powerpoint/2010/main" val="41568331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LIVE DEMO</a:t>
            </a:r>
          </a:p>
          <a:p>
            <a:br>
              <a:rPr lang="en-US" dirty="0"/>
            </a:br>
            <a:endParaRPr lang="en-US" dirty="0"/>
          </a:p>
          <a:p>
            <a:r>
              <a:rPr lang="en-US" b="1" dirty="0"/>
              <a:t>Your Talk Track:</a:t>
            </a:r>
            <a:endParaRPr lang="en-US" dirty="0"/>
          </a:p>
          <a:p>
            <a:br>
              <a:rPr lang="en-US" dirty="0"/>
            </a:br>
            <a:endParaRPr lang="en-US" dirty="0"/>
          </a:p>
          <a:p>
            <a:r>
              <a:rPr lang="en-US" dirty="0"/>
              <a:t>“Next I’ll show a </a:t>
            </a:r>
            <a:r>
              <a:rPr lang="en-US" b="1" dirty="0"/>
              <a:t>live demo</a:t>
            </a:r>
            <a:r>
              <a:rPr lang="en-US" dirty="0"/>
              <a:t> of real API attacks on Juice Shop —</a:t>
            </a:r>
          </a:p>
          <a:p>
            <a:r>
              <a:rPr lang="en-US" dirty="0"/>
              <a:t>BOLA, excessive data leaks, CORS </a:t>
            </a:r>
            <a:r>
              <a:rPr lang="en-US" dirty="0" err="1"/>
              <a:t>misconfig</a:t>
            </a:r>
            <a:r>
              <a:rPr lang="en-US" dirty="0"/>
              <a:t>, and more.</a:t>
            </a:r>
          </a:p>
          <a:p>
            <a:br>
              <a:rPr lang="en-US" dirty="0"/>
            </a:br>
            <a:endParaRPr lang="en-US" dirty="0"/>
          </a:p>
          <a:p>
            <a:r>
              <a:rPr lang="en-US" dirty="0"/>
              <a:t>This is exactly what attackers run against real businesses every day.”</a:t>
            </a:r>
          </a:p>
        </p:txBody>
      </p:sp>
      <p:sp>
        <p:nvSpPr>
          <p:cNvPr id="4" name="Slide Number Placeholder 3"/>
          <p:cNvSpPr>
            <a:spLocks noGrp="1"/>
          </p:cNvSpPr>
          <p:nvPr>
            <p:ph type="sldNum" sz="quarter" idx="5"/>
          </p:nvPr>
        </p:nvSpPr>
        <p:spPr/>
        <p:txBody>
          <a:bodyPr/>
          <a:lstStyle/>
          <a:p>
            <a:fld id="{1C5394C2-D719-5D40-8526-810E117E81A3}" type="slidenum">
              <a:rPr lang="en-US" smtClean="0"/>
              <a:t>8</a:t>
            </a:fld>
            <a:endParaRPr lang="en-US"/>
          </a:p>
        </p:txBody>
      </p:sp>
    </p:spTree>
    <p:extLst>
      <p:ext uri="{BB962C8B-B14F-4D97-AF65-F5344CB8AC3E}">
        <p14:creationId xmlns:p14="http://schemas.microsoft.com/office/powerpoint/2010/main" val="25607913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Gateways are essential operational components.</a:t>
            </a:r>
          </a:p>
          <a:p>
            <a:r>
              <a:rPr lang="en-US" dirty="0"/>
              <a:t>They provide the first line of filtering and traffic shaping.</a:t>
            </a:r>
          </a:p>
          <a:p>
            <a:r>
              <a:rPr lang="en-US" dirty="0"/>
              <a:t>They stop a variety of common problems—but not the logic-level attacks.</a:t>
            </a:r>
          </a:p>
          <a:p>
            <a:endParaRPr lang="en-US" dirty="0"/>
          </a:p>
        </p:txBody>
      </p:sp>
      <p:sp>
        <p:nvSpPr>
          <p:cNvPr id="4" name="Slide Number Placeholder 3"/>
          <p:cNvSpPr>
            <a:spLocks noGrp="1"/>
          </p:cNvSpPr>
          <p:nvPr>
            <p:ph type="sldNum" sz="quarter" idx="5"/>
          </p:nvPr>
        </p:nvSpPr>
        <p:spPr/>
        <p:txBody>
          <a:bodyPr/>
          <a:lstStyle/>
          <a:p>
            <a:fld id="{1C5394C2-D719-5D40-8526-810E117E81A3}" type="slidenum">
              <a:rPr lang="en-US" smtClean="0"/>
              <a:t>9</a:t>
            </a:fld>
            <a:endParaRPr lang="en-US"/>
          </a:p>
        </p:txBody>
      </p:sp>
    </p:spTree>
    <p:extLst>
      <p:ext uri="{BB962C8B-B14F-4D97-AF65-F5344CB8AC3E}">
        <p14:creationId xmlns:p14="http://schemas.microsoft.com/office/powerpoint/2010/main" val="8141098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dirty="0"/>
            </a:br>
            <a:endParaRPr lang="en-US" dirty="0"/>
          </a:p>
          <a:p>
            <a:r>
              <a:rPr lang="en-US" dirty="0"/>
              <a:t>These limitations are not flaws—they’re simply not what gateways are built for.</a:t>
            </a:r>
          </a:p>
          <a:p>
            <a:r>
              <a:rPr lang="en-US" dirty="0"/>
              <a:t>Gateways handle the “plumbing,” not the logic.</a:t>
            </a:r>
          </a:p>
          <a:p>
            <a:endParaRPr lang="en-US" dirty="0"/>
          </a:p>
        </p:txBody>
      </p:sp>
      <p:sp>
        <p:nvSpPr>
          <p:cNvPr id="4" name="Slide Number Placeholder 3"/>
          <p:cNvSpPr>
            <a:spLocks noGrp="1"/>
          </p:cNvSpPr>
          <p:nvPr>
            <p:ph type="sldNum" sz="quarter" idx="5"/>
          </p:nvPr>
        </p:nvSpPr>
        <p:spPr/>
        <p:txBody>
          <a:bodyPr/>
          <a:lstStyle/>
          <a:p>
            <a:fld id="{1C5394C2-D719-5D40-8526-810E117E81A3}" type="slidenum">
              <a:rPr lang="en-US" smtClean="0"/>
              <a:t>10</a:t>
            </a:fld>
            <a:endParaRPr lang="en-US"/>
          </a:p>
        </p:txBody>
      </p:sp>
    </p:spTree>
    <p:extLst>
      <p:ext uri="{BB962C8B-B14F-4D97-AF65-F5344CB8AC3E}">
        <p14:creationId xmlns:p14="http://schemas.microsoft.com/office/powerpoint/2010/main" val="1573496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t>1. Full Visibility</a:t>
            </a:r>
            <a:r>
              <a:rPr lang="en-US" sz="1200" dirty="0"/>
              <a:t> • Automatically discovers shadow, zombie, and unmanaged APIs (including legacy and AI-related) • Builds comprehensive inventory with schema, object details, and visualizations of data flows, business logic, and traffic patterns</a:t>
            </a:r>
          </a:p>
          <a:p>
            <a:r>
              <a:rPr lang="en-US" sz="1200" b="1" dirty="0"/>
              <a:t>2. Real-Time Risk Intelligence</a:t>
            </a:r>
            <a:r>
              <a:rPr lang="en-US" sz="1200" dirty="0"/>
              <a:t> • Uses machine learning to learn API usage patterns and flag anomalies (e.g., data leakage, tampering, suspicious bots, attacks) • Analyzes for OWASP Top 10 risks and prioritizes vulnerabilities by impact for rapid remediation</a:t>
            </a:r>
          </a:p>
          <a:p>
            <a:r>
              <a:rPr lang="en-US" sz="1200" b="1" dirty="0"/>
              <a:t>3. Flexible Protection Anywhere</a:t>
            </a:r>
            <a:r>
              <a:rPr lang="en-US" sz="1200" dirty="0"/>
              <a:t> • Supports out-of-band monitoring for real-time analysis; inline blocking via integration with App &amp; API Protector • Integrates with API gateways, WAFs, SIEMs, ITSM tools, and SOAR workflows for remediation</a:t>
            </a:r>
          </a:p>
        </p:txBody>
      </p:sp>
      <p:sp>
        <p:nvSpPr>
          <p:cNvPr id="4" name="Slide Number Placeholder 3"/>
          <p:cNvSpPr>
            <a:spLocks noGrp="1"/>
          </p:cNvSpPr>
          <p:nvPr>
            <p:ph type="sldNum" sz="quarter" idx="5"/>
          </p:nvPr>
        </p:nvSpPr>
        <p:spPr/>
        <p:txBody>
          <a:bodyPr/>
          <a:lstStyle/>
          <a:p>
            <a:fld id="{1C5394C2-D719-5D40-8526-810E117E81A3}" type="slidenum">
              <a:rPr lang="en-US" smtClean="0"/>
              <a:t>11</a:t>
            </a:fld>
            <a:endParaRPr lang="en-US"/>
          </a:p>
        </p:txBody>
      </p:sp>
    </p:spTree>
    <p:extLst>
      <p:ext uri="{BB962C8B-B14F-4D97-AF65-F5344CB8AC3E}">
        <p14:creationId xmlns:p14="http://schemas.microsoft.com/office/powerpoint/2010/main" val="37294384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Visibility, behavior, and logic enforcement are the three pillars of API security.</a:t>
            </a:r>
          </a:p>
          <a:p>
            <a:r>
              <a:rPr lang="en-US" dirty="0"/>
              <a:t>This is the fastest, most reliable way to reduce risk and avoid becoming part of next year’s incident statistics.</a:t>
            </a:r>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“Traditional security tools often protect only at the </a:t>
            </a:r>
            <a:r>
              <a:rPr lang="en-US" i="1" dirty="0"/>
              <a:t>endpoint</a:t>
            </a:r>
            <a:r>
              <a:rPr lang="en-US" dirty="0"/>
              <a:t> level. But modern API attacks—especially BOLA, mass assignment, and excessive data exposure—happen at the </a:t>
            </a:r>
            <a:r>
              <a:rPr lang="en-US" i="1" dirty="0"/>
              <a:t>object</a:t>
            </a:r>
            <a:r>
              <a:rPr lang="en-US" dirty="0"/>
              <a:t> level. That means we need protections that understand how users interact with specific objects (like baskets, accounts, or records), detect abnormal behavior, and block requests that violate expected user-object relationships. Behavior-based intelligence fills the gaps left by signature-based or static rule-based systems.”</a:t>
            </a:r>
          </a:p>
          <a:p>
            <a:endParaRPr lang="en-US" dirty="0"/>
          </a:p>
        </p:txBody>
      </p:sp>
      <p:sp>
        <p:nvSpPr>
          <p:cNvPr id="4" name="Slide Number Placeholder 3"/>
          <p:cNvSpPr>
            <a:spLocks noGrp="1"/>
          </p:cNvSpPr>
          <p:nvPr>
            <p:ph type="sldNum" sz="quarter" idx="5"/>
          </p:nvPr>
        </p:nvSpPr>
        <p:spPr/>
        <p:txBody>
          <a:bodyPr/>
          <a:lstStyle/>
          <a:p>
            <a:fld id="{1C5394C2-D719-5D40-8526-810E117E81A3}" type="slidenum">
              <a:rPr lang="en-US" smtClean="0"/>
              <a:t>12</a:t>
            </a:fld>
            <a:endParaRPr lang="en-US"/>
          </a:p>
        </p:txBody>
      </p:sp>
    </p:spTree>
    <p:extLst>
      <p:ext uri="{BB962C8B-B14F-4D97-AF65-F5344CB8AC3E}">
        <p14:creationId xmlns:p14="http://schemas.microsoft.com/office/powerpoint/2010/main" val="277935362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8018D046-ADF7-C44C-AC26-52C7095DCD15}" type="datetimeFigureOut">
              <a:rPr lang="en-US" smtClean="0"/>
              <a:t>11/24/25</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34F0280D-9E6F-924C-85D8-69F8F9487ECE}" type="slidenum">
              <a:rPr lang="en-US" smtClean="0"/>
              <a:t>‹#›</a:t>
            </a:fld>
            <a:endParaRPr lang="en-US"/>
          </a:p>
        </p:txBody>
      </p:sp>
    </p:spTree>
    <p:extLst>
      <p:ext uri="{BB962C8B-B14F-4D97-AF65-F5344CB8AC3E}">
        <p14:creationId xmlns:p14="http://schemas.microsoft.com/office/powerpoint/2010/main" val="32515594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018D046-ADF7-C44C-AC26-52C7095DCD15}" type="datetimeFigureOut">
              <a:rPr lang="en-US" smtClean="0"/>
              <a:t>11/24/25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F0280D-9E6F-924C-85D8-69F8F9487ECE}" type="slidenum">
              <a:rPr lang="en-US" smtClean="0"/>
              <a:t>‹#›</a:t>
            </a:fld>
            <a:endParaRPr lang="en-US"/>
          </a:p>
        </p:txBody>
      </p:sp>
    </p:spTree>
    <p:extLst>
      <p:ext uri="{BB962C8B-B14F-4D97-AF65-F5344CB8AC3E}">
        <p14:creationId xmlns:p14="http://schemas.microsoft.com/office/powerpoint/2010/main" val="4090122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018D046-ADF7-C44C-AC26-52C7095DCD15}" type="datetimeFigureOut">
              <a:rPr lang="en-US" smtClean="0"/>
              <a:t>11/24/25</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4F0280D-9E6F-924C-85D8-69F8F9487ECE}" type="slidenum">
              <a:rPr lang="en-US" smtClean="0"/>
              <a:t>‹#›</a:t>
            </a:fld>
            <a:endParaRPr lang="en-US"/>
          </a:p>
        </p:txBody>
      </p:sp>
    </p:spTree>
    <p:extLst>
      <p:ext uri="{BB962C8B-B14F-4D97-AF65-F5344CB8AC3E}">
        <p14:creationId xmlns:p14="http://schemas.microsoft.com/office/powerpoint/2010/main" val="17706363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018D046-ADF7-C44C-AC26-52C7095DCD15}" type="datetimeFigureOut">
              <a:rPr lang="en-US" smtClean="0"/>
              <a:t>11/24/25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F0280D-9E6F-924C-85D8-69F8F9487ECE}" type="slidenum">
              <a:rPr lang="en-US" smtClean="0"/>
              <a:t>‹#›</a:t>
            </a:fld>
            <a:endParaRPr lang="en-US"/>
          </a:p>
        </p:txBody>
      </p:sp>
    </p:spTree>
    <p:extLst>
      <p:ext uri="{BB962C8B-B14F-4D97-AF65-F5344CB8AC3E}">
        <p14:creationId xmlns:p14="http://schemas.microsoft.com/office/powerpoint/2010/main" val="11258871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018D046-ADF7-C44C-AC26-52C7095DCD15}" type="datetimeFigureOut">
              <a:rPr lang="en-US" smtClean="0"/>
              <a:t>11/24/25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4F0280D-9E6F-924C-85D8-69F8F9487ECE}" type="slidenum">
              <a:rPr lang="en-US" smtClean="0"/>
              <a:t>‹#›</a:t>
            </a:fld>
            <a:endParaRPr lang="en-US"/>
          </a:p>
        </p:txBody>
      </p:sp>
    </p:spTree>
    <p:extLst>
      <p:ext uri="{BB962C8B-B14F-4D97-AF65-F5344CB8AC3E}">
        <p14:creationId xmlns:p14="http://schemas.microsoft.com/office/powerpoint/2010/main" val="15256575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018D046-ADF7-C44C-AC26-52C7095DCD15}" type="datetimeFigureOut">
              <a:rPr lang="en-US" smtClean="0"/>
              <a:t>11/24/25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4F0280D-9E6F-924C-85D8-69F8F9487ECE}" type="slidenum">
              <a:rPr lang="en-US" smtClean="0"/>
              <a:t>‹#›</a:t>
            </a:fld>
            <a:endParaRPr lang="en-US"/>
          </a:p>
        </p:txBody>
      </p:sp>
    </p:spTree>
    <p:extLst>
      <p:ext uri="{BB962C8B-B14F-4D97-AF65-F5344CB8AC3E}">
        <p14:creationId xmlns:p14="http://schemas.microsoft.com/office/powerpoint/2010/main" val="8035353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018D046-ADF7-C44C-AC26-52C7095DCD15}" type="datetimeFigureOut">
              <a:rPr lang="en-US" smtClean="0"/>
              <a:t>11/24/25</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34F0280D-9E6F-924C-85D8-69F8F9487ECE}" type="slidenum">
              <a:rPr lang="en-US" smtClean="0"/>
              <a:t>‹#›</a:t>
            </a:fld>
            <a:endParaRPr lang="en-US"/>
          </a:p>
        </p:txBody>
      </p:sp>
    </p:spTree>
    <p:extLst>
      <p:ext uri="{BB962C8B-B14F-4D97-AF65-F5344CB8AC3E}">
        <p14:creationId xmlns:p14="http://schemas.microsoft.com/office/powerpoint/2010/main" val="36468859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018D046-ADF7-C44C-AC26-52C7095DCD15}" type="datetimeFigureOut">
              <a:rPr lang="en-US" smtClean="0"/>
              <a:t>11/24/25</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34F0280D-9E6F-924C-85D8-69F8F9487ECE}" type="slidenum">
              <a:rPr lang="en-US" smtClean="0"/>
              <a:t>‹#›</a:t>
            </a:fld>
            <a:endParaRPr lang="en-US"/>
          </a:p>
        </p:txBody>
      </p:sp>
    </p:spTree>
    <p:extLst>
      <p:ext uri="{BB962C8B-B14F-4D97-AF65-F5344CB8AC3E}">
        <p14:creationId xmlns:p14="http://schemas.microsoft.com/office/powerpoint/2010/main" val="30041116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018D046-ADF7-C44C-AC26-52C7095DCD15}" type="datetimeFigureOut">
              <a:rPr lang="en-US" smtClean="0"/>
              <a:t>11/24/25</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34F0280D-9E6F-924C-85D8-69F8F9487ECE}" type="slidenum">
              <a:rPr lang="en-US" smtClean="0"/>
              <a:t>‹#›</a:t>
            </a:fld>
            <a:endParaRPr lang="en-US"/>
          </a:p>
        </p:txBody>
      </p:sp>
    </p:spTree>
    <p:extLst>
      <p:ext uri="{BB962C8B-B14F-4D97-AF65-F5344CB8AC3E}">
        <p14:creationId xmlns:p14="http://schemas.microsoft.com/office/powerpoint/2010/main" val="24391745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018D046-ADF7-C44C-AC26-52C7095DCD15}" type="datetimeFigureOut">
              <a:rPr lang="en-US" smtClean="0"/>
              <a:t>11/24/25</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34F0280D-9E6F-924C-85D8-69F8F9487ECE}" type="slidenum">
              <a:rPr lang="en-US" smtClean="0"/>
              <a:t>‹#›</a:t>
            </a:fld>
            <a:endParaRPr lang="en-US"/>
          </a:p>
        </p:txBody>
      </p:sp>
    </p:spTree>
    <p:extLst>
      <p:ext uri="{BB962C8B-B14F-4D97-AF65-F5344CB8AC3E}">
        <p14:creationId xmlns:p14="http://schemas.microsoft.com/office/powerpoint/2010/main" val="30228224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8018D046-ADF7-C44C-AC26-52C7095DCD15}" type="datetimeFigureOut">
              <a:rPr lang="en-US" smtClean="0"/>
              <a:t>11/24/25</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4F0280D-9E6F-924C-85D8-69F8F9487ECE}" type="slidenum">
              <a:rPr lang="en-US" smtClean="0"/>
              <a:t>‹#›</a:t>
            </a:fld>
            <a:endParaRPr lang="en-US"/>
          </a:p>
        </p:txBody>
      </p:sp>
    </p:spTree>
    <p:extLst>
      <p:ext uri="{BB962C8B-B14F-4D97-AF65-F5344CB8AC3E}">
        <p14:creationId xmlns:p14="http://schemas.microsoft.com/office/powerpoint/2010/main" val="9817513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8018D046-ADF7-C44C-AC26-52C7095DCD15}" type="datetimeFigureOut">
              <a:rPr lang="en-US" smtClean="0"/>
              <a:t>11/24/25</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4F0280D-9E6F-924C-85D8-69F8F9487ECE}" type="slidenum">
              <a:rPr lang="en-US" smtClean="0"/>
              <a:t>‹#›</a:t>
            </a:fld>
            <a:endParaRPr lang="en-US"/>
          </a:p>
        </p:txBody>
      </p:sp>
    </p:spTree>
    <p:extLst>
      <p:ext uri="{BB962C8B-B14F-4D97-AF65-F5344CB8AC3E}">
        <p14:creationId xmlns:p14="http://schemas.microsoft.com/office/powerpoint/2010/main" val="15402364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018D046-ADF7-C44C-AC26-52C7095DCD15}" type="datetimeFigureOut">
              <a:rPr lang="en-US" smtClean="0"/>
              <a:t>11/24/25</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4F0280D-9E6F-924C-85D8-69F8F9487ECE}" type="slidenum">
              <a:rPr lang="en-US" smtClean="0"/>
              <a:t>‹#›</a:t>
            </a:fld>
            <a:endParaRPr lang="en-US"/>
          </a:p>
        </p:txBody>
      </p:sp>
    </p:spTree>
    <p:extLst>
      <p:ext uri="{BB962C8B-B14F-4D97-AF65-F5344CB8AC3E}">
        <p14:creationId xmlns:p14="http://schemas.microsoft.com/office/powerpoint/2010/main" val="24655154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8018D046-ADF7-C44C-AC26-52C7095DCD15}" type="datetimeFigureOut">
              <a:rPr lang="en-US" smtClean="0"/>
              <a:t>11/24/25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4F0280D-9E6F-924C-85D8-69F8F9487ECE}" type="slidenum">
              <a:rPr lang="en-US" smtClean="0"/>
              <a:t>‹#›</a:t>
            </a:fld>
            <a:endParaRPr lang="en-US"/>
          </a:p>
        </p:txBody>
      </p:sp>
    </p:spTree>
    <p:extLst>
      <p:ext uri="{BB962C8B-B14F-4D97-AF65-F5344CB8AC3E}">
        <p14:creationId xmlns:p14="http://schemas.microsoft.com/office/powerpoint/2010/main" val="22793358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8018D046-ADF7-C44C-AC26-52C7095DCD15}" type="datetimeFigureOut">
              <a:rPr lang="en-US" smtClean="0"/>
              <a:t>11/24/25</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34F0280D-9E6F-924C-85D8-69F8F9487ECE}" type="slidenum">
              <a:rPr lang="en-US" smtClean="0"/>
              <a:t>‹#›</a:t>
            </a:fld>
            <a:endParaRPr lang="en-US"/>
          </a:p>
        </p:txBody>
      </p:sp>
    </p:spTree>
    <p:extLst>
      <p:ext uri="{BB962C8B-B14F-4D97-AF65-F5344CB8AC3E}">
        <p14:creationId xmlns:p14="http://schemas.microsoft.com/office/powerpoint/2010/main" val="10259010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8018D046-ADF7-C44C-AC26-52C7095DCD15}" type="datetimeFigureOut">
              <a:rPr lang="en-US" smtClean="0"/>
              <a:t>11/24/25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F0280D-9E6F-924C-85D8-69F8F9487ECE}" type="slidenum">
              <a:rPr lang="en-US" smtClean="0"/>
              <a:t>‹#›</a:t>
            </a:fld>
            <a:endParaRPr lang="en-US"/>
          </a:p>
        </p:txBody>
      </p:sp>
    </p:spTree>
    <p:extLst>
      <p:ext uri="{BB962C8B-B14F-4D97-AF65-F5344CB8AC3E}">
        <p14:creationId xmlns:p14="http://schemas.microsoft.com/office/powerpoint/2010/main" val="25827703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8018D046-ADF7-C44C-AC26-52C7095DCD15}" type="datetimeFigureOut">
              <a:rPr lang="en-US" smtClean="0"/>
              <a:t>11/24/25</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4F0280D-9E6F-924C-85D8-69F8F9487ECE}" type="slidenum">
              <a:rPr lang="en-US" smtClean="0"/>
              <a:t>‹#›</a:t>
            </a:fld>
            <a:endParaRPr lang="en-US"/>
          </a:p>
        </p:txBody>
      </p:sp>
    </p:spTree>
    <p:extLst>
      <p:ext uri="{BB962C8B-B14F-4D97-AF65-F5344CB8AC3E}">
        <p14:creationId xmlns:p14="http://schemas.microsoft.com/office/powerpoint/2010/main" val="25550101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8018D046-ADF7-C44C-AC26-52C7095DCD15}" type="datetimeFigureOut">
              <a:rPr lang="en-US" smtClean="0"/>
              <a:t>11/24/25</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34F0280D-9E6F-924C-85D8-69F8F9487ECE}" type="slidenum">
              <a:rPr lang="en-US" smtClean="0"/>
              <a:t>‹#›</a:t>
            </a:fld>
            <a:endParaRPr lang="en-US"/>
          </a:p>
        </p:txBody>
      </p:sp>
    </p:spTree>
    <p:extLst>
      <p:ext uri="{BB962C8B-B14F-4D97-AF65-F5344CB8AC3E}">
        <p14:creationId xmlns:p14="http://schemas.microsoft.com/office/powerpoint/2010/main" val="145266998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jpeg"/><Relationship Id="rId7" Type="http://schemas.openxmlformats.org/officeDocument/2006/relationships/diagramColors" Target="../diagrams/colors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1.jpeg"/><Relationship Id="rId7" Type="http://schemas.openxmlformats.org/officeDocument/2006/relationships/diagramColors" Target="../diagrams/colors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7.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1.jpeg"/><Relationship Id="rId7" Type="http://schemas.openxmlformats.org/officeDocument/2006/relationships/diagramColors" Target="../diagrams/colors5.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26E62-E58B-A967-F23F-FBCF46699839}"/>
              </a:ext>
            </a:extLst>
          </p:cNvPr>
          <p:cNvSpPr>
            <a:spLocks noGrp="1"/>
          </p:cNvSpPr>
          <p:nvPr>
            <p:ph type="title"/>
          </p:nvPr>
        </p:nvSpPr>
        <p:spPr/>
        <p:txBody>
          <a:bodyPr/>
          <a:lstStyle/>
          <a:p>
            <a:r>
              <a:rPr lang="en-US" dirty="0">
                <a:effectLst/>
              </a:rPr>
              <a:t>Securing the Modern API Attack Surface</a:t>
            </a:r>
            <a:br>
              <a:rPr lang="en-US" dirty="0">
                <a:effectLst/>
              </a:rPr>
            </a:br>
            <a:endParaRPr lang="en-US" dirty="0"/>
          </a:p>
        </p:txBody>
      </p:sp>
      <p:sp>
        <p:nvSpPr>
          <p:cNvPr id="11" name="TextBox 10">
            <a:extLst>
              <a:ext uri="{FF2B5EF4-FFF2-40B4-BE49-F238E27FC236}">
                <a16:creationId xmlns:a16="http://schemas.microsoft.com/office/drawing/2014/main" id="{992042B0-DB62-708D-DF08-9D754847B394}"/>
              </a:ext>
            </a:extLst>
          </p:cNvPr>
          <p:cNvSpPr txBox="1"/>
          <p:nvPr/>
        </p:nvSpPr>
        <p:spPr>
          <a:xfrm>
            <a:off x="553967" y="6014864"/>
            <a:ext cx="7038635" cy="338554"/>
          </a:xfrm>
          <a:prstGeom prst="rect">
            <a:avLst/>
          </a:prstGeom>
          <a:noFill/>
        </p:spPr>
        <p:txBody>
          <a:bodyPr wrap="square">
            <a:spAutoFit/>
          </a:bodyPr>
          <a:lstStyle/>
          <a:p>
            <a:r>
              <a:rPr lang="en-US" sz="1600" i="1" dirty="0"/>
              <a:t>Based on the Akamai API Security Impact Study (2024)</a:t>
            </a:r>
          </a:p>
        </p:txBody>
      </p:sp>
      <p:sp>
        <p:nvSpPr>
          <p:cNvPr id="13" name="TextBox 12">
            <a:extLst>
              <a:ext uri="{FF2B5EF4-FFF2-40B4-BE49-F238E27FC236}">
                <a16:creationId xmlns:a16="http://schemas.microsoft.com/office/drawing/2014/main" id="{89EE7FF0-36F9-3EB5-0502-58D1AD7770B4}"/>
              </a:ext>
            </a:extLst>
          </p:cNvPr>
          <p:cNvSpPr txBox="1"/>
          <p:nvPr/>
        </p:nvSpPr>
        <p:spPr>
          <a:xfrm>
            <a:off x="6096000" y="3755415"/>
            <a:ext cx="5926015" cy="1231106"/>
          </a:xfrm>
          <a:prstGeom prst="rect">
            <a:avLst/>
          </a:prstGeom>
          <a:noFill/>
        </p:spPr>
        <p:txBody>
          <a:bodyPr wrap="square">
            <a:spAutoFit/>
          </a:bodyPr>
          <a:lstStyle/>
          <a:p>
            <a:pPr>
              <a:buNone/>
            </a:pPr>
            <a:r>
              <a:rPr lang="en-US" sz="2800" dirty="0">
                <a:effectLst/>
              </a:rPr>
              <a:t>Presenter:  Mike Cropsey</a:t>
            </a:r>
          </a:p>
          <a:p>
            <a:r>
              <a:rPr lang="en-US" sz="1600" dirty="0"/>
              <a:t>Industry context from Akamai, Imperva, Gartner</a:t>
            </a:r>
          </a:p>
          <a:p>
            <a:pPr>
              <a:buNone/>
            </a:pPr>
            <a:endParaRPr lang="en-US" sz="2800" dirty="0">
              <a:effectLst/>
            </a:endParaRPr>
          </a:p>
        </p:txBody>
      </p:sp>
      <p:pic>
        <p:nvPicPr>
          <p:cNvPr id="3" name="Picture 2">
            <a:extLst>
              <a:ext uri="{FF2B5EF4-FFF2-40B4-BE49-F238E27FC236}">
                <a16:creationId xmlns:a16="http://schemas.microsoft.com/office/drawing/2014/main" id="{805955A2-E533-F975-BA64-49487CADF07E}"/>
              </a:ext>
            </a:extLst>
          </p:cNvPr>
          <p:cNvPicPr>
            <a:picLocks noChangeAspect="1"/>
          </p:cNvPicPr>
          <p:nvPr/>
        </p:nvPicPr>
        <p:blipFill>
          <a:blip r:embed="rId3"/>
          <a:stretch>
            <a:fillRect/>
          </a:stretch>
        </p:blipFill>
        <p:spPr>
          <a:xfrm>
            <a:off x="553967" y="2320176"/>
            <a:ext cx="5542033" cy="3694688"/>
          </a:xfrm>
          <a:prstGeom prst="rect">
            <a:avLst/>
          </a:prstGeom>
        </p:spPr>
      </p:pic>
      <p:sp>
        <p:nvSpPr>
          <p:cNvPr id="4" name="TextBox 3">
            <a:extLst>
              <a:ext uri="{FF2B5EF4-FFF2-40B4-BE49-F238E27FC236}">
                <a16:creationId xmlns:a16="http://schemas.microsoft.com/office/drawing/2014/main" id="{D0B35B45-EA79-BF69-DE87-9FDEADE9C3A3}"/>
              </a:ext>
            </a:extLst>
          </p:cNvPr>
          <p:cNvSpPr txBox="1"/>
          <p:nvPr/>
        </p:nvSpPr>
        <p:spPr>
          <a:xfrm>
            <a:off x="6728345" y="4700474"/>
            <a:ext cx="4162567" cy="923330"/>
          </a:xfrm>
          <a:prstGeom prst="rect">
            <a:avLst/>
          </a:prstGeom>
          <a:noFill/>
        </p:spPr>
        <p:txBody>
          <a:bodyPr wrap="square" rtlCol="0">
            <a:spAutoFit/>
          </a:bodyPr>
          <a:lstStyle/>
          <a:p>
            <a:pPr marL="285750" indent="-285750">
              <a:buFont typeface="Wingdings" pitchFamily="2" charset="2"/>
              <a:buChar char="ü"/>
            </a:pPr>
            <a:r>
              <a:rPr lang="en-US" dirty="0"/>
              <a:t>API Infrastructure</a:t>
            </a:r>
          </a:p>
          <a:p>
            <a:pPr marL="285750" indent="-285750">
              <a:buFont typeface="Wingdings" pitchFamily="2" charset="2"/>
              <a:buChar char="ü"/>
            </a:pPr>
            <a:r>
              <a:rPr lang="en-US" dirty="0"/>
              <a:t>Vulnerabilities</a:t>
            </a:r>
          </a:p>
          <a:p>
            <a:pPr marL="285750" indent="-285750">
              <a:buFont typeface="Wingdings" pitchFamily="2" charset="2"/>
              <a:buChar char="ü"/>
            </a:pPr>
            <a:r>
              <a:rPr lang="en-US" dirty="0"/>
              <a:t>Protective Measures</a:t>
            </a:r>
          </a:p>
        </p:txBody>
      </p:sp>
    </p:spTree>
    <p:extLst>
      <p:ext uri="{BB962C8B-B14F-4D97-AF65-F5344CB8AC3E}">
        <p14:creationId xmlns:p14="http://schemas.microsoft.com/office/powerpoint/2010/main" val="24890457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5DD23-504C-4C70-D377-80BD248A5EE8}"/>
              </a:ext>
            </a:extLst>
          </p:cNvPr>
          <p:cNvSpPr>
            <a:spLocks noGrp="1"/>
          </p:cNvSpPr>
          <p:nvPr>
            <p:ph type="title"/>
          </p:nvPr>
        </p:nvSpPr>
        <p:spPr>
          <a:xfrm>
            <a:off x="1154954" y="973668"/>
            <a:ext cx="8761413" cy="706964"/>
          </a:xfrm>
        </p:spPr>
        <p:txBody>
          <a:bodyPr>
            <a:normAutofit fontScale="90000"/>
          </a:bodyPr>
          <a:lstStyle/>
          <a:p>
            <a:r>
              <a:rPr lang="en-US" dirty="0"/>
              <a:t>The API Explosion: 3 Truths You Can’t Ignore</a:t>
            </a:r>
          </a:p>
        </p:txBody>
      </p:sp>
      <p:sp>
        <p:nvSpPr>
          <p:cNvPr id="3" name="Content Placeholder 2">
            <a:extLst>
              <a:ext uri="{FF2B5EF4-FFF2-40B4-BE49-F238E27FC236}">
                <a16:creationId xmlns:a16="http://schemas.microsoft.com/office/drawing/2014/main" id="{B5E11650-49FB-6823-B59C-833074EBFC98}"/>
              </a:ext>
            </a:extLst>
          </p:cNvPr>
          <p:cNvSpPr>
            <a:spLocks noGrp="1"/>
          </p:cNvSpPr>
          <p:nvPr>
            <p:ph idx="1"/>
          </p:nvPr>
        </p:nvSpPr>
        <p:spPr>
          <a:xfrm>
            <a:off x="1154954" y="2603500"/>
            <a:ext cx="6397313" cy="3416300"/>
          </a:xfrm>
        </p:spPr>
        <p:txBody>
          <a:bodyPr anchor="ctr">
            <a:normAutofit lnSpcReduction="10000"/>
          </a:bodyPr>
          <a:lstStyle/>
          <a:p>
            <a:pPr>
              <a:buFont typeface="Wingdings" pitchFamily="2" charset="2"/>
              <a:buChar char="Ø"/>
            </a:pPr>
            <a:r>
              <a:rPr lang="en-US" sz="2000" b="1" dirty="0"/>
              <a:t>APIs are the Internet</a:t>
            </a:r>
            <a:endParaRPr lang="en-US" sz="2000" b="1" baseline="30000" dirty="0"/>
          </a:p>
          <a:p>
            <a:pPr lvl="1">
              <a:buFont typeface="Wingdings" pitchFamily="2" charset="2"/>
              <a:buChar char="q"/>
            </a:pPr>
            <a:r>
              <a:rPr lang="en-US" sz="1800" b="1" dirty="0"/>
              <a:t>71% of all web traffic is API-driven</a:t>
            </a:r>
          </a:p>
          <a:p>
            <a:pPr marL="857250" lvl="2" indent="0">
              <a:buNone/>
            </a:pPr>
            <a:r>
              <a:rPr lang="en-US" sz="1600" i="1" dirty="0"/>
              <a:t>(Imperva State of API Security 2024)</a:t>
            </a:r>
            <a:endParaRPr lang="en-US" sz="1600" dirty="0"/>
          </a:p>
          <a:p>
            <a:pPr lvl="1">
              <a:buFont typeface="Wingdings" pitchFamily="2" charset="2"/>
              <a:buChar char="q"/>
            </a:pPr>
            <a:r>
              <a:rPr lang="en-US" sz="1800" b="1" dirty="0"/>
              <a:t>APIs are the #1 attack vector</a:t>
            </a:r>
            <a:r>
              <a:rPr lang="en-US" sz="1800" dirty="0"/>
              <a:t> </a:t>
            </a:r>
          </a:p>
          <a:p>
            <a:pPr marL="857250" lvl="2" indent="0">
              <a:buNone/>
            </a:pPr>
            <a:r>
              <a:rPr lang="en-US" sz="1600" i="1" dirty="0"/>
              <a:t>Gartner: “APIs now represent the leading path for attackers.”</a:t>
            </a:r>
          </a:p>
          <a:p>
            <a:pPr lvl="1">
              <a:buFont typeface="Wingdings" pitchFamily="2" charset="2"/>
              <a:buChar char="q"/>
            </a:pPr>
            <a:r>
              <a:rPr lang="en-US" sz="1800" b="1" dirty="0"/>
              <a:t>Organizations underestimate their API footprint</a:t>
            </a:r>
          </a:p>
          <a:p>
            <a:pPr marL="857250" lvl="2" indent="0">
              <a:buNone/>
            </a:pPr>
            <a:r>
              <a:rPr lang="en-US" sz="1600" dirty="0"/>
              <a:t>Akamai API Security Study (2024): Only 27% of companies know their full API footprint—leaving shadow APIs as hidden, prime attack targets.</a:t>
            </a:r>
            <a:endParaRPr lang="en-US" sz="1600" dirty="0">
              <a:effectLst/>
            </a:endParaRPr>
          </a:p>
        </p:txBody>
      </p:sp>
      <p:pic>
        <p:nvPicPr>
          <p:cNvPr id="4" name="Picture 3">
            <a:extLst>
              <a:ext uri="{FF2B5EF4-FFF2-40B4-BE49-F238E27FC236}">
                <a16:creationId xmlns:a16="http://schemas.microsoft.com/office/drawing/2014/main" id="{1B4FFE97-44B7-56D8-AF9E-8026FD2650BC}"/>
              </a:ext>
            </a:extLst>
          </p:cNvPr>
          <p:cNvPicPr>
            <a:picLocks noChangeAspect="1"/>
          </p:cNvPicPr>
          <p:nvPr/>
        </p:nvPicPr>
        <p:blipFill>
          <a:blip r:embed="rId3"/>
          <a:srcRect r="-2" b="417"/>
          <a:stretch>
            <a:fillRect/>
          </a:stretch>
        </p:blipFill>
        <p:spPr>
          <a:xfrm>
            <a:off x="8020571" y="2775951"/>
            <a:ext cx="3080048" cy="3067163"/>
          </a:xfrm>
          <a:prstGeom prst="roundRect">
            <a:avLst>
              <a:gd name="adj" fmla="val 1858"/>
            </a:avLst>
          </a:prstGeom>
          <a:effectLst>
            <a:outerShdw blurRad="50800" dist="50800" dir="5400000" algn="tl" rotWithShape="0">
              <a:srgbClr val="000000">
                <a:alpha val="43000"/>
              </a:srgbClr>
            </a:outerShdw>
          </a:effectLst>
        </p:spPr>
      </p:pic>
      <p:sp>
        <p:nvSpPr>
          <p:cNvPr id="6" name="TextBox 5">
            <a:extLst>
              <a:ext uri="{FF2B5EF4-FFF2-40B4-BE49-F238E27FC236}">
                <a16:creationId xmlns:a16="http://schemas.microsoft.com/office/drawing/2014/main" id="{F21E991D-0424-14F2-EE41-944F9D4745C6}"/>
              </a:ext>
            </a:extLst>
          </p:cNvPr>
          <p:cNvSpPr txBox="1"/>
          <p:nvPr/>
        </p:nvSpPr>
        <p:spPr>
          <a:xfrm>
            <a:off x="7819200" y="6019800"/>
            <a:ext cx="3859200" cy="600164"/>
          </a:xfrm>
          <a:prstGeom prst="rect">
            <a:avLst/>
          </a:prstGeom>
          <a:noFill/>
        </p:spPr>
        <p:txBody>
          <a:bodyPr wrap="square">
            <a:spAutoFit/>
          </a:bodyPr>
          <a:lstStyle/>
          <a:p>
            <a:pPr>
              <a:buNone/>
            </a:pPr>
            <a:r>
              <a:rPr lang="en-US" sz="1100" i="1" dirty="0"/>
              <a:t>APIs now sit at the center of a perfect storm: more traffic, a bigger attack surface, and a growing visibility gap.</a:t>
            </a:r>
          </a:p>
        </p:txBody>
      </p:sp>
    </p:spTree>
    <p:extLst>
      <p:ext uri="{BB962C8B-B14F-4D97-AF65-F5344CB8AC3E}">
        <p14:creationId xmlns:p14="http://schemas.microsoft.com/office/powerpoint/2010/main" val="39862893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3" name="Group 42">
            <a:extLst>
              <a:ext uri="{FF2B5EF4-FFF2-40B4-BE49-F238E27FC236}">
                <a16:creationId xmlns:a16="http://schemas.microsoft.com/office/drawing/2014/main" id="{08BCF048-8940-4354-B9EC-5AD74E283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45" name="Rectangle 44">
              <a:extLst>
                <a:ext uri="{FF2B5EF4-FFF2-40B4-BE49-F238E27FC236}">
                  <a16:creationId xmlns:a16="http://schemas.microsoft.com/office/drawing/2014/main" id="{D024C14A-78BD-44B0-82BE-6A0D0A2706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3">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6" name="Oval 45">
              <a:extLst>
                <a:ext uri="{FF2B5EF4-FFF2-40B4-BE49-F238E27FC236}">
                  <a16:creationId xmlns:a16="http://schemas.microsoft.com/office/drawing/2014/main" id="{809F3D29-EDB1-4F1C-A0E0-36F28CE17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8" name="Oval 37">
              <a:extLst>
                <a:ext uri="{FF2B5EF4-FFF2-40B4-BE49-F238E27FC236}">
                  <a16:creationId xmlns:a16="http://schemas.microsoft.com/office/drawing/2014/main" id="{5282F4AB-C7B8-4A86-9927-AA106AA27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7" name="Rectangle 46">
              <a:extLst>
                <a:ext uri="{FF2B5EF4-FFF2-40B4-BE49-F238E27FC236}">
                  <a16:creationId xmlns:a16="http://schemas.microsoft.com/office/drawing/2014/main" id="{60B26874-5AFA-4D1E-94A9-53AF9790D7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0" name="Freeform 5">
              <a:extLst>
                <a:ext uri="{FF2B5EF4-FFF2-40B4-BE49-F238E27FC236}">
                  <a16:creationId xmlns:a16="http://schemas.microsoft.com/office/drawing/2014/main" id="{A1DA6C95-40F8-4305-89F6-17F6167C0B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41" name="Freeform 5">
              <a:extLst>
                <a:ext uri="{FF2B5EF4-FFF2-40B4-BE49-F238E27FC236}">
                  <a16:creationId xmlns:a16="http://schemas.microsoft.com/office/drawing/2014/main" id="{A2FA2D29-AEEE-4FFA-B233-94FBE84C9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US"/>
            </a:p>
          </p:txBody>
        </p:sp>
        <p:sp>
          <p:nvSpPr>
            <p:cNvPr id="42" name="Freeform 5">
              <a:extLst>
                <a:ext uri="{FF2B5EF4-FFF2-40B4-BE49-F238E27FC236}">
                  <a16:creationId xmlns:a16="http://schemas.microsoft.com/office/drawing/2014/main" id="{6DA5143E-FA8E-4EC1-99F7-35AE5AD4E3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 name="Title 1">
            <a:extLst>
              <a:ext uri="{FF2B5EF4-FFF2-40B4-BE49-F238E27FC236}">
                <a16:creationId xmlns:a16="http://schemas.microsoft.com/office/drawing/2014/main" id="{7EA6FFA4-5F75-3907-C660-CE99F9D307A4}"/>
              </a:ext>
            </a:extLst>
          </p:cNvPr>
          <p:cNvSpPr>
            <a:spLocks noGrp="1"/>
          </p:cNvSpPr>
          <p:nvPr>
            <p:ph type="title"/>
          </p:nvPr>
        </p:nvSpPr>
        <p:spPr>
          <a:xfrm>
            <a:off x="1154955" y="973667"/>
            <a:ext cx="2942210" cy="4833745"/>
          </a:xfrm>
        </p:spPr>
        <p:txBody>
          <a:bodyPr>
            <a:normAutofit/>
          </a:bodyPr>
          <a:lstStyle/>
          <a:p>
            <a:r>
              <a:rPr lang="en-US" b="1">
                <a:solidFill>
                  <a:srgbClr val="EBEBEB"/>
                </a:solidFill>
              </a:rPr>
              <a:t>The API Breach Pattern:</a:t>
            </a:r>
            <a:br>
              <a:rPr lang="en-US">
                <a:solidFill>
                  <a:srgbClr val="EBEBEB"/>
                </a:solidFill>
              </a:rPr>
            </a:br>
            <a:endParaRPr lang="en-US">
              <a:solidFill>
                <a:srgbClr val="EBEBEB"/>
              </a:solidFill>
            </a:endParaRPr>
          </a:p>
        </p:txBody>
      </p:sp>
      <p:sp>
        <p:nvSpPr>
          <p:cNvPr id="44" name="Rectangle 43">
            <a:extLst>
              <a:ext uri="{FF2B5EF4-FFF2-40B4-BE49-F238E27FC236}">
                <a16:creationId xmlns:a16="http://schemas.microsoft.com/office/drawing/2014/main" id="{CC28BCC9-4093-4FD5-83EB-7EC297F513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48" name="Content Placeholder 2">
            <a:extLst>
              <a:ext uri="{FF2B5EF4-FFF2-40B4-BE49-F238E27FC236}">
                <a16:creationId xmlns:a16="http://schemas.microsoft.com/office/drawing/2014/main" id="{0CDDD469-1050-D68F-62C3-B08E1B44BD8B}"/>
              </a:ext>
            </a:extLst>
          </p:cNvPr>
          <p:cNvGraphicFramePr>
            <a:graphicFrameLocks noGrp="1"/>
          </p:cNvGraphicFramePr>
          <p:nvPr>
            <p:ph idx="1"/>
            <p:extLst>
              <p:ext uri="{D42A27DB-BD31-4B8C-83A1-F6EECF244321}">
                <p14:modId xmlns:p14="http://schemas.microsoft.com/office/powerpoint/2010/main" val="3743780749"/>
              </p:ext>
            </p:extLst>
          </p:nvPr>
        </p:nvGraphicFramePr>
        <p:xfrm>
          <a:off x="5194300" y="808038"/>
          <a:ext cx="6391275" cy="524668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5213192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5" name="Group 44">
            <a:extLst>
              <a:ext uri="{FF2B5EF4-FFF2-40B4-BE49-F238E27FC236}">
                <a16:creationId xmlns:a16="http://schemas.microsoft.com/office/drawing/2014/main" id="{08BCF048-8940-4354-B9EC-5AD74E283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46" name="Rectangle 45">
              <a:extLst>
                <a:ext uri="{FF2B5EF4-FFF2-40B4-BE49-F238E27FC236}">
                  <a16:creationId xmlns:a16="http://schemas.microsoft.com/office/drawing/2014/main" id="{D024C14A-78BD-44B0-82BE-6A0D0A2706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3">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7" name="Oval 46">
              <a:extLst>
                <a:ext uri="{FF2B5EF4-FFF2-40B4-BE49-F238E27FC236}">
                  <a16:creationId xmlns:a16="http://schemas.microsoft.com/office/drawing/2014/main" id="{809F3D29-EDB1-4F1C-A0E0-36F28CE17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8" name="Oval 47">
              <a:extLst>
                <a:ext uri="{FF2B5EF4-FFF2-40B4-BE49-F238E27FC236}">
                  <a16:creationId xmlns:a16="http://schemas.microsoft.com/office/drawing/2014/main" id="{5282F4AB-C7B8-4A86-9927-AA106AA27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9" name="Rectangle 48">
              <a:extLst>
                <a:ext uri="{FF2B5EF4-FFF2-40B4-BE49-F238E27FC236}">
                  <a16:creationId xmlns:a16="http://schemas.microsoft.com/office/drawing/2014/main" id="{60B26874-5AFA-4D1E-94A9-53AF9790D7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0" name="Freeform 5">
              <a:extLst>
                <a:ext uri="{FF2B5EF4-FFF2-40B4-BE49-F238E27FC236}">
                  <a16:creationId xmlns:a16="http://schemas.microsoft.com/office/drawing/2014/main" id="{A1DA6C95-40F8-4305-89F6-17F6167C0B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51" name="Freeform 5">
              <a:extLst>
                <a:ext uri="{FF2B5EF4-FFF2-40B4-BE49-F238E27FC236}">
                  <a16:creationId xmlns:a16="http://schemas.microsoft.com/office/drawing/2014/main" id="{A2FA2D29-AEEE-4FFA-B233-94FBE84C9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US"/>
            </a:p>
          </p:txBody>
        </p:sp>
        <p:sp>
          <p:nvSpPr>
            <p:cNvPr id="52" name="Freeform 5">
              <a:extLst>
                <a:ext uri="{FF2B5EF4-FFF2-40B4-BE49-F238E27FC236}">
                  <a16:creationId xmlns:a16="http://schemas.microsoft.com/office/drawing/2014/main" id="{6DA5143E-FA8E-4EC1-99F7-35AE5AD4E3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 name="Title 1">
            <a:extLst>
              <a:ext uri="{FF2B5EF4-FFF2-40B4-BE49-F238E27FC236}">
                <a16:creationId xmlns:a16="http://schemas.microsoft.com/office/drawing/2014/main" id="{AC73C4E1-9012-DBC9-F174-4A73A65A0AF9}"/>
              </a:ext>
            </a:extLst>
          </p:cNvPr>
          <p:cNvSpPr>
            <a:spLocks noGrp="1"/>
          </p:cNvSpPr>
          <p:nvPr>
            <p:ph type="title"/>
          </p:nvPr>
        </p:nvSpPr>
        <p:spPr>
          <a:xfrm>
            <a:off x="1154955" y="973667"/>
            <a:ext cx="2942210" cy="4833745"/>
          </a:xfrm>
        </p:spPr>
        <p:txBody>
          <a:bodyPr vert="horz" lIns="91440" tIns="45720" rIns="91440" bIns="45720" rtlCol="0" anchor="ctr">
            <a:normAutofit/>
          </a:bodyPr>
          <a:lstStyle/>
          <a:p>
            <a:br>
              <a:rPr lang="en-US">
                <a:solidFill>
                  <a:srgbClr val="EBEBEB"/>
                </a:solidFill>
              </a:rPr>
            </a:br>
            <a:r>
              <a:rPr lang="en-US">
                <a:solidFill>
                  <a:srgbClr val="EBEBEB"/>
                </a:solidFill>
              </a:rPr>
              <a:t>Modern Apps Depend on APIs</a:t>
            </a:r>
            <a:br>
              <a:rPr lang="en-US">
                <a:solidFill>
                  <a:srgbClr val="EBEBEB"/>
                </a:solidFill>
              </a:rPr>
            </a:br>
            <a:endParaRPr lang="en-US">
              <a:solidFill>
                <a:srgbClr val="EBEBEB"/>
              </a:solidFill>
            </a:endParaRPr>
          </a:p>
        </p:txBody>
      </p:sp>
      <p:sp>
        <p:nvSpPr>
          <p:cNvPr id="54" name="Rectangle 53">
            <a:extLst>
              <a:ext uri="{FF2B5EF4-FFF2-40B4-BE49-F238E27FC236}">
                <a16:creationId xmlns:a16="http://schemas.microsoft.com/office/drawing/2014/main" id="{CC28BCC9-4093-4FD5-83EB-7EC297F513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41" name="TextBox 6">
            <a:extLst>
              <a:ext uri="{FF2B5EF4-FFF2-40B4-BE49-F238E27FC236}">
                <a16:creationId xmlns:a16="http://schemas.microsoft.com/office/drawing/2014/main" id="{E240DF68-DFDF-D8F3-49E5-73C7E51605A5}"/>
              </a:ext>
            </a:extLst>
          </p:cNvPr>
          <p:cNvGraphicFramePr/>
          <p:nvPr>
            <p:extLst>
              <p:ext uri="{D42A27DB-BD31-4B8C-83A1-F6EECF244321}">
                <p14:modId xmlns:p14="http://schemas.microsoft.com/office/powerpoint/2010/main" val="3586229579"/>
              </p:ext>
            </p:extLst>
          </p:nvPr>
        </p:nvGraphicFramePr>
        <p:xfrm>
          <a:off x="5194300" y="808038"/>
          <a:ext cx="6391275" cy="524668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5359307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324E43EB-867C-4B35-9A5C-E435157C7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A7C0F5DA-B59F-4F13-8BB8-FFD8F2C572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a:p>
        </p:txBody>
      </p:sp>
      <p:sp>
        <p:nvSpPr>
          <p:cNvPr id="25" name="Freeform 5">
            <a:extLst>
              <a:ext uri="{FF2B5EF4-FFF2-40B4-BE49-F238E27FC236}">
                <a16:creationId xmlns:a16="http://schemas.microsoft.com/office/drawing/2014/main" id="{9CEA1DEC-CC9E-4776-9E08-048A15BFA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27" name="Freeform: Shape 26">
            <a:extLst>
              <a:ext uri="{FF2B5EF4-FFF2-40B4-BE49-F238E27FC236}">
                <a16:creationId xmlns:a16="http://schemas.microsoft.com/office/drawing/2014/main" id="{9CE399CF-F4B8-4832-A8CB-B93F6B1EF4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bg1"/>
          </a:solidFill>
          <a:ln>
            <a:noFill/>
          </a:ln>
        </p:spPr>
        <p:txBody>
          <a:bodyPr/>
          <a:lstStyle/>
          <a:p>
            <a:endParaRPr lang="en-US"/>
          </a:p>
        </p:txBody>
      </p:sp>
      <p:sp>
        <p:nvSpPr>
          <p:cNvPr id="29" name="Freeform 5">
            <a:extLst>
              <a:ext uri="{FF2B5EF4-FFF2-40B4-BE49-F238E27FC236}">
                <a16:creationId xmlns:a16="http://schemas.microsoft.com/office/drawing/2014/main" id="{1F23E73A-FDC8-462C-83C1-3AA89614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sp>
        <p:nvSpPr>
          <p:cNvPr id="2" name="Title 1">
            <a:extLst>
              <a:ext uri="{FF2B5EF4-FFF2-40B4-BE49-F238E27FC236}">
                <a16:creationId xmlns:a16="http://schemas.microsoft.com/office/drawing/2014/main" id="{22DEC511-03A7-5CDE-F085-684E0015BD22}"/>
              </a:ext>
            </a:extLst>
          </p:cNvPr>
          <p:cNvSpPr>
            <a:spLocks noGrp="1"/>
          </p:cNvSpPr>
          <p:nvPr>
            <p:ph type="title"/>
          </p:nvPr>
        </p:nvSpPr>
        <p:spPr>
          <a:xfrm>
            <a:off x="994087" y="1130603"/>
            <a:ext cx="3342442" cy="4596794"/>
          </a:xfrm>
        </p:spPr>
        <p:txBody>
          <a:bodyPr anchor="ctr">
            <a:normAutofit/>
          </a:bodyPr>
          <a:lstStyle/>
          <a:p>
            <a:r>
              <a:rPr lang="en-US" sz="3200" dirty="0">
                <a:solidFill>
                  <a:srgbClr val="EBEBEB"/>
                </a:solidFill>
              </a:rPr>
              <a:t>API Security Deployment Approaches</a:t>
            </a:r>
            <a:br>
              <a:rPr lang="en-US" sz="3200" b="1" dirty="0"/>
            </a:br>
            <a:endParaRPr lang="en-US" sz="3200" dirty="0">
              <a:solidFill>
                <a:srgbClr val="EBEBEB"/>
              </a:solidFill>
            </a:endParaRPr>
          </a:p>
        </p:txBody>
      </p:sp>
      <p:graphicFrame>
        <p:nvGraphicFramePr>
          <p:cNvPr id="31" name="Content Placeholder 2">
            <a:extLst>
              <a:ext uri="{FF2B5EF4-FFF2-40B4-BE49-F238E27FC236}">
                <a16:creationId xmlns:a16="http://schemas.microsoft.com/office/drawing/2014/main" id="{8B943192-84A6-2ABD-C247-30475F3877EF}"/>
              </a:ext>
            </a:extLst>
          </p:cNvPr>
          <p:cNvGraphicFramePr>
            <a:graphicFrameLocks noGrp="1"/>
          </p:cNvGraphicFramePr>
          <p:nvPr>
            <p:ph idx="1"/>
            <p:extLst>
              <p:ext uri="{D42A27DB-BD31-4B8C-83A1-F6EECF244321}">
                <p14:modId xmlns:p14="http://schemas.microsoft.com/office/powerpoint/2010/main" val="1231031609"/>
              </p:ext>
            </p:extLst>
          </p:nvPr>
        </p:nvGraphicFramePr>
        <p:xfrm>
          <a:off x="5290077" y="437513"/>
          <a:ext cx="5502614" cy="59543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35834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24E43EB-867C-4B35-9A5C-E435157C7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7C0F5DA-B59F-4F13-8BB8-FFD8F2C572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a:p>
        </p:txBody>
      </p:sp>
      <p:sp>
        <p:nvSpPr>
          <p:cNvPr id="12" name="Freeform 5">
            <a:extLst>
              <a:ext uri="{FF2B5EF4-FFF2-40B4-BE49-F238E27FC236}">
                <a16:creationId xmlns:a16="http://schemas.microsoft.com/office/drawing/2014/main" id="{9CEA1DEC-CC9E-4776-9E08-048A15BFA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4" name="Freeform: Shape 13">
            <a:extLst>
              <a:ext uri="{FF2B5EF4-FFF2-40B4-BE49-F238E27FC236}">
                <a16:creationId xmlns:a16="http://schemas.microsoft.com/office/drawing/2014/main" id="{9CE399CF-F4B8-4832-A8CB-B93F6B1EF4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bg1"/>
          </a:solidFill>
          <a:ln>
            <a:noFill/>
          </a:ln>
        </p:spPr>
        <p:txBody>
          <a:bodyPr/>
          <a:lstStyle/>
          <a:p>
            <a:endParaRPr lang="en-US"/>
          </a:p>
        </p:txBody>
      </p:sp>
      <p:sp>
        <p:nvSpPr>
          <p:cNvPr id="16" name="Freeform 5">
            <a:extLst>
              <a:ext uri="{FF2B5EF4-FFF2-40B4-BE49-F238E27FC236}">
                <a16:creationId xmlns:a16="http://schemas.microsoft.com/office/drawing/2014/main" id="{1F23E73A-FDC8-462C-83C1-3AA89614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sp>
        <p:nvSpPr>
          <p:cNvPr id="2" name="Title 1">
            <a:extLst>
              <a:ext uri="{FF2B5EF4-FFF2-40B4-BE49-F238E27FC236}">
                <a16:creationId xmlns:a16="http://schemas.microsoft.com/office/drawing/2014/main" id="{3D774D64-6053-702A-FE17-073BF90CF95E}"/>
              </a:ext>
            </a:extLst>
          </p:cNvPr>
          <p:cNvSpPr>
            <a:spLocks noGrp="1"/>
          </p:cNvSpPr>
          <p:nvPr>
            <p:ph type="title"/>
          </p:nvPr>
        </p:nvSpPr>
        <p:spPr>
          <a:xfrm>
            <a:off x="994087" y="1130603"/>
            <a:ext cx="3342442" cy="4596794"/>
          </a:xfrm>
        </p:spPr>
        <p:txBody>
          <a:bodyPr anchor="ctr">
            <a:normAutofit/>
          </a:bodyPr>
          <a:lstStyle/>
          <a:p>
            <a:r>
              <a:rPr lang="en-US" sz="3200" dirty="0">
                <a:solidFill>
                  <a:srgbClr val="EBEBEB"/>
                </a:solidFill>
              </a:rPr>
              <a:t>Three Layers of API Identity: </a:t>
            </a:r>
            <a:r>
              <a:rPr lang="en-US" sz="2400" dirty="0">
                <a:solidFill>
                  <a:srgbClr val="EBEBEB"/>
                </a:solidFill>
              </a:rPr>
              <a:t>Authentication Authorization Context</a:t>
            </a:r>
            <a:endParaRPr lang="en-US" sz="3200" dirty="0">
              <a:solidFill>
                <a:srgbClr val="EBEBEB"/>
              </a:solidFill>
            </a:endParaRPr>
          </a:p>
        </p:txBody>
      </p:sp>
      <p:graphicFrame>
        <p:nvGraphicFramePr>
          <p:cNvPr id="28" name="Content Placeholder 2">
            <a:extLst>
              <a:ext uri="{FF2B5EF4-FFF2-40B4-BE49-F238E27FC236}">
                <a16:creationId xmlns:a16="http://schemas.microsoft.com/office/drawing/2014/main" id="{C9EE10C8-0D9C-231F-9315-787CC868D7DC}"/>
              </a:ext>
            </a:extLst>
          </p:cNvPr>
          <p:cNvGraphicFramePr>
            <a:graphicFrameLocks noGrp="1"/>
          </p:cNvGraphicFramePr>
          <p:nvPr>
            <p:ph idx="1"/>
          </p:nvPr>
        </p:nvGraphicFramePr>
        <p:xfrm>
          <a:off x="5290077" y="437513"/>
          <a:ext cx="5502614" cy="59543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077854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61" name="Group 60">
            <a:extLst>
              <a:ext uri="{FF2B5EF4-FFF2-40B4-BE49-F238E27FC236}">
                <a16:creationId xmlns:a16="http://schemas.microsoft.com/office/drawing/2014/main" id="{08BCF048-8940-4354-B9EC-5AD74E283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62" name="Rectangle 61">
              <a:extLst>
                <a:ext uri="{FF2B5EF4-FFF2-40B4-BE49-F238E27FC236}">
                  <a16:creationId xmlns:a16="http://schemas.microsoft.com/office/drawing/2014/main" id="{D024C14A-78BD-44B0-82BE-6A0D0A2706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3">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3" name="Oval 62">
              <a:extLst>
                <a:ext uri="{FF2B5EF4-FFF2-40B4-BE49-F238E27FC236}">
                  <a16:creationId xmlns:a16="http://schemas.microsoft.com/office/drawing/2014/main" id="{809F3D29-EDB1-4F1C-A0E0-36F28CE17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4" name="Oval 63">
              <a:extLst>
                <a:ext uri="{FF2B5EF4-FFF2-40B4-BE49-F238E27FC236}">
                  <a16:creationId xmlns:a16="http://schemas.microsoft.com/office/drawing/2014/main" id="{5282F4AB-C7B8-4A86-9927-AA106AA27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5" name="Rectangle 64">
              <a:extLst>
                <a:ext uri="{FF2B5EF4-FFF2-40B4-BE49-F238E27FC236}">
                  <a16:creationId xmlns:a16="http://schemas.microsoft.com/office/drawing/2014/main" id="{60B26874-5AFA-4D1E-94A9-53AF9790D7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6" name="Freeform 5">
              <a:extLst>
                <a:ext uri="{FF2B5EF4-FFF2-40B4-BE49-F238E27FC236}">
                  <a16:creationId xmlns:a16="http://schemas.microsoft.com/office/drawing/2014/main" id="{A1DA6C95-40F8-4305-89F6-17F6167C0B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67" name="Freeform 5">
              <a:extLst>
                <a:ext uri="{FF2B5EF4-FFF2-40B4-BE49-F238E27FC236}">
                  <a16:creationId xmlns:a16="http://schemas.microsoft.com/office/drawing/2014/main" id="{A2FA2D29-AEEE-4FFA-B233-94FBE84C9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US"/>
            </a:p>
          </p:txBody>
        </p:sp>
        <p:sp>
          <p:nvSpPr>
            <p:cNvPr id="68" name="Freeform 5">
              <a:extLst>
                <a:ext uri="{FF2B5EF4-FFF2-40B4-BE49-F238E27FC236}">
                  <a16:creationId xmlns:a16="http://schemas.microsoft.com/office/drawing/2014/main" id="{6DA5143E-FA8E-4EC1-99F7-35AE5AD4E3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 name="Title 1">
            <a:extLst>
              <a:ext uri="{FF2B5EF4-FFF2-40B4-BE49-F238E27FC236}">
                <a16:creationId xmlns:a16="http://schemas.microsoft.com/office/drawing/2014/main" id="{F8F48CC1-8F8F-2DF4-47C6-70225D78753B}"/>
              </a:ext>
            </a:extLst>
          </p:cNvPr>
          <p:cNvSpPr>
            <a:spLocks noGrp="1"/>
          </p:cNvSpPr>
          <p:nvPr>
            <p:ph type="title"/>
          </p:nvPr>
        </p:nvSpPr>
        <p:spPr>
          <a:xfrm>
            <a:off x="1154955" y="973667"/>
            <a:ext cx="2942210" cy="4833745"/>
          </a:xfrm>
        </p:spPr>
        <p:txBody>
          <a:bodyPr>
            <a:normAutofit/>
          </a:bodyPr>
          <a:lstStyle/>
          <a:p>
            <a:r>
              <a:rPr lang="en-US">
                <a:solidFill>
                  <a:srgbClr val="EBEBEB"/>
                </a:solidFill>
              </a:rPr>
              <a:t>OWASP API Threat Examples</a:t>
            </a:r>
          </a:p>
        </p:txBody>
      </p:sp>
      <p:sp>
        <p:nvSpPr>
          <p:cNvPr id="70" name="Rectangle 69">
            <a:extLst>
              <a:ext uri="{FF2B5EF4-FFF2-40B4-BE49-F238E27FC236}">
                <a16:creationId xmlns:a16="http://schemas.microsoft.com/office/drawing/2014/main" id="{CC28BCC9-4093-4FD5-83EB-7EC297F513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graphicFrame>
        <p:nvGraphicFramePr>
          <p:cNvPr id="57" name="Content Placeholder 2">
            <a:extLst>
              <a:ext uri="{FF2B5EF4-FFF2-40B4-BE49-F238E27FC236}">
                <a16:creationId xmlns:a16="http://schemas.microsoft.com/office/drawing/2014/main" id="{1B582AEE-C89D-0F17-BFAE-7CBD9208B2F6}"/>
              </a:ext>
            </a:extLst>
          </p:cNvPr>
          <p:cNvGraphicFramePr>
            <a:graphicFrameLocks noGrp="1"/>
          </p:cNvGraphicFramePr>
          <p:nvPr>
            <p:ph idx="1"/>
            <p:extLst>
              <p:ext uri="{D42A27DB-BD31-4B8C-83A1-F6EECF244321}">
                <p14:modId xmlns:p14="http://schemas.microsoft.com/office/powerpoint/2010/main" val="2049509168"/>
              </p:ext>
            </p:extLst>
          </p:nvPr>
        </p:nvGraphicFramePr>
        <p:xfrm>
          <a:off x="5194300" y="808038"/>
          <a:ext cx="6391275" cy="524668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1847641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643780CE-2BE5-46F6-97B2-60DF30217E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a:p>
        </p:txBody>
      </p:sp>
      <p:sp>
        <p:nvSpPr>
          <p:cNvPr id="22" name="Freeform: Shape 10">
            <a:extLst>
              <a:ext uri="{FF2B5EF4-FFF2-40B4-BE49-F238E27FC236}">
                <a16:creationId xmlns:a16="http://schemas.microsoft.com/office/drawing/2014/main" id="{61A87A49-68E6-459E-A5A6-46229FF421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txBody>
          <a:bodyPr/>
          <a:lstStyle/>
          <a:p>
            <a:endParaRPr lang="en-US"/>
          </a:p>
        </p:txBody>
      </p:sp>
      <p:sp>
        <p:nvSpPr>
          <p:cNvPr id="23" name="Freeform 5">
            <a:extLst>
              <a:ext uri="{FF2B5EF4-FFF2-40B4-BE49-F238E27FC236}">
                <a16:creationId xmlns:a16="http://schemas.microsoft.com/office/drawing/2014/main" id="{F6ACD5FC-CAFE-48EB-B765-60EED2E0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2" name="Title 1">
            <a:extLst>
              <a:ext uri="{FF2B5EF4-FFF2-40B4-BE49-F238E27FC236}">
                <a16:creationId xmlns:a16="http://schemas.microsoft.com/office/drawing/2014/main" id="{10B2AA1F-FA5E-CC18-F77D-C096A10C1BA1}"/>
              </a:ext>
            </a:extLst>
          </p:cNvPr>
          <p:cNvSpPr>
            <a:spLocks noGrp="1"/>
          </p:cNvSpPr>
          <p:nvPr>
            <p:ph type="title"/>
          </p:nvPr>
        </p:nvSpPr>
        <p:spPr>
          <a:xfrm>
            <a:off x="1154955" y="973668"/>
            <a:ext cx="2942210" cy="1020232"/>
          </a:xfrm>
        </p:spPr>
        <p:txBody>
          <a:bodyPr>
            <a:normAutofit/>
          </a:bodyPr>
          <a:lstStyle/>
          <a:p>
            <a:r>
              <a:rPr lang="en-US">
                <a:solidFill>
                  <a:srgbClr val="EBEBEB"/>
                </a:solidFill>
              </a:rPr>
              <a:t>LIVE DEMO</a:t>
            </a:r>
          </a:p>
        </p:txBody>
      </p:sp>
      <p:pic>
        <p:nvPicPr>
          <p:cNvPr id="4" name="Picture 3" descr="A diagram of a cloud computing network&#10;&#10;AI-generated content may be incorrect.">
            <a:extLst>
              <a:ext uri="{FF2B5EF4-FFF2-40B4-BE49-F238E27FC236}">
                <a16:creationId xmlns:a16="http://schemas.microsoft.com/office/drawing/2014/main" id="{B955F4B4-7B3A-9712-DEF6-959A273D2460}"/>
              </a:ext>
            </a:extLst>
          </p:cNvPr>
          <p:cNvPicPr>
            <a:picLocks noChangeAspect="1"/>
          </p:cNvPicPr>
          <p:nvPr/>
        </p:nvPicPr>
        <p:blipFill>
          <a:blip r:embed="rId3"/>
          <a:stretch>
            <a:fillRect/>
          </a:stretch>
        </p:blipFill>
        <p:spPr>
          <a:xfrm>
            <a:off x="5194607" y="992228"/>
            <a:ext cx="6391533" cy="4873544"/>
          </a:xfrm>
          <a:prstGeom prst="rect">
            <a:avLst/>
          </a:prstGeom>
        </p:spPr>
      </p:pic>
      <p:sp>
        <p:nvSpPr>
          <p:cNvPr id="24" name="Rectangle 23">
            <a:extLst>
              <a:ext uri="{FF2B5EF4-FFF2-40B4-BE49-F238E27FC236}">
                <a16:creationId xmlns:a16="http://schemas.microsoft.com/office/drawing/2014/main" id="{9F33B405-D785-4738-B1C0-6A0AA5E982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Oval 24">
            <a:extLst>
              <a:ext uri="{FF2B5EF4-FFF2-40B4-BE49-F238E27FC236}">
                <a16:creationId xmlns:a16="http://schemas.microsoft.com/office/drawing/2014/main" id="{4233DC0E-DE6C-4FB6-A529-51B162641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Oval 18">
            <a:extLst>
              <a:ext uri="{FF2B5EF4-FFF2-40B4-BE49-F238E27FC236}">
                <a16:creationId xmlns:a16="http://schemas.microsoft.com/office/drawing/2014/main" id="{3870477F-E451-4BC3-863F-0E2FC57288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0CA50B4A-EB42-1E7F-A761-7DDF8C2D8EAF}"/>
              </a:ext>
            </a:extLst>
          </p:cNvPr>
          <p:cNvSpPr>
            <a:spLocks noGrp="1"/>
          </p:cNvSpPr>
          <p:nvPr>
            <p:ph idx="1"/>
          </p:nvPr>
        </p:nvSpPr>
        <p:spPr>
          <a:xfrm>
            <a:off x="1154955" y="2120900"/>
            <a:ext cx="3133726" cy="3898900"/>
          </a:xfrm>
        </p:spPr>
        <p:txBody>
          <a:bodyPr>
            <a:normAutofit/>
          </a:bodyPr>
          <a:lstStyle/>
          <a:p>
            <a:endParaRPr lang="en-US" dirty="0">
              <a:solidFill>
                <a:srgbClr val="FFFFFF"/>
              </a:solidFill>
            </a:endParaRPr>
          </a:p>
        </p:txBody>
      </p:sp>
      <p:sp>
        <p:nvSpPr>
          <p:cNvPr id="21" name="Freeform 5">
            <a:extLst>
              <a:ext uri="{FF2B5EF4-FFF2-40B4-BE49-F238E27FC236}">
                <a16:creationId xmlns:a16="http://schemas.microsoft.com/office/drawing/2014/main" id="{B4A81DE1-E2BC-4A31-99EE-71350421B0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txBody>
          <a:bodyPr/>
          <a:lstStyle/>
          <a:p>
            <a:endParaRPr lang="en-US"/>
          </a:p>
        </p:txBody>
      </p:sp>
    </p:spTree>
    <p:extLst>
      <p:ext uri="{BB962C8B-B14F-4D97-AF65-F5344CB8AC3E}">
        <p14:creationId xmlns:p14="http://schemas.microsoft.com/office/powerpoint/2010/main" val="1285183123"/>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 name="Rectangle 103">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ectangle 95">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17539" y="467397"/>
            <a:ext cx="695829"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105" name="Group 104">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a:solidFill>
            <a:srgbClr val="FFFFFF"/>
          </a:solidFill>
        </p:grpSpPr>
        <p:sp>
          <p:nvSpPr>
            <p:cNvPr id="99" name="Rectangle 98">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6"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endParaRPr lang="en-US"/>
            </a:p>
          </p:txBody>
        </p:sp>
      </p:grpSp>
      <p:sp>
        <p:nvSpPr>
          <p:cNvPr id="2" name="Title 1">
            <a:extLst>
              <a:ext uri="{FF2B5EF4-FFF2-40B4-BE49-F238E27FC236}">
                <a16:creationId xmlns:a16="http://schemas.microsoft.com/office/drawing/2014/main" id="{7A06F306-C96F-8972-659B-F0AB65482AD5}"/>
              </a:ext>
            </a:extLst>
          </p:cNvPr>
          <p:cNvSpPr>
            <a:spLocks noGrp="1"/>
          </p:cNvSpPr>
          <p:nvPr>
            <p:ph type="title"/>
          </p:nvPr>
        </p:nvSpPr>
        <p:spPr>
          <a:xfrm>
            <a:off x="1000372" y="1209957"/>
            <a:ext cx="3034580" cy="4438087"/>
          </a:xfrm>
        </p:spPr>
        <p:txBody>
          <a:bodyPr anchor="ctr">
            <a:normAutofit/>
          </a:bodyPr>
          <a:lstStyle/>
          <a:p>
            <a:pPr algn="r"/>
            <a:r>
              <a:rPr lang="en-US" sz="3200">
                <a:solidFill>
                  <a:schemeClr val="tx1"/>
                </a:solidFill>
              </a:rPr>
              <a:t>Where API Gateways Help</a:t>
            </a:r>
          </a:p>
        </p:txBody>
      </p:sp>
      <p:cxnSp>
        <p:nvCxnSpPr>
          <p:cNvPr id="107" name="Straight Connector 106">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56687" y="1930986"/>
            <a:ext cx="0" cy="3200400"/>
          </a:xfrm>
          <a:prstGeom prst="line">
            <a:avLst/>
          </a:prstGeom>
          <a:ln w="15875" cap="sq">
            <a:solidFill>
              <a:schemeClr val="tx2"/>
            </a:solidFill>
            <a:miter lim="800000"/>
          </a:ln>
        </p:spPr>
        <p:style>
          <a:lnRef idx="1">
            <a:schemeClr val="accent1"/>
          </a:lnRef>
          <a:fillRef idx="0">
            <a:schemeClr val="accent1"/>
          </a:fillRef>
          <a:effectRef idx="0">
            <a:schemeClr val="accent1"/>
          </a:effectRef>
          <a:fontRef idx="minor">
            <a:schemeClr val="tx1"/>
          </a:fontRef>
        </p:style>
      </p:cxnSp>
      <p:sp>
        <p:nvSpPr>
          <p:cNvPr id="24" name="Content Placeholder 2">
            <a:extLst>
              <a:ext uri="{FF2B5EF4-FFF2-40B4-BE49-F238E27FC236}">
                <a16:creationId xmlns:a16="http://schemas.microsoft.com/office/drawing/2014/main" id="{EFD72B11-AB6D-9DF4-D9B8-7972355FA4DC}"/>
              </a:ext>
            </a:extLst>
          </p:cNvPr>
          <p:cNvSpPr>
            <a:spLocks noGrp="1"/>
          </p:cNvSpPr>
          <p:nvPr>
            <p:ph idx="1"/>
          </p:nvPr>
        </p:nvSpPr>
        <p:spPr>
          <a:xfrm>
            <a:off x="4678424" y="1059025"/>
            <a:ext cx="5302189" cy="4739950"/>
          </a:xfrm>
        </p:spPr>
        <p:txBody>
          <a:bodyPr anchor="ctr">
            <a:normAutofit/>
          </a:bodyPr>
          <a:lstStyle/>
          <a:p>
            <a:pPr marL="0" indent="0">
              <a:buNone/>
            </a:pPr>
            <a:r>
              <a:rPr lang="en-US" b="1">
                <a:solidFill>
                  <a:schemeClr val="tx1"/>
                </a:solidFill>
              </a:rPr>
              <a:t>Control Traffic</a:t>
            </a:r>
          </a:p>
          <a:p>
            <a:pPr marL="400050" lvl="1" indent="0">
              <a:buNone/>
            </a:pPr>
            <a:r>
              <a:rPr lang="en-US">
                <a:solidFill>
                  <a:schemeClr val="tx1"/>
                </a:solidFill>
              </a:rPr>
              <a:t>Rate limiting, throttling, and routing help manage load and prevent abuse.</a:t>
            </a:r>
          </a:p>
          <a:p>
            <a:pPr marL="0" indent="0">
              <a:buNone/>
            </a:pPr>
            <a:r>
              <a:rPr lang="en-US" b="1">
                <a:solidFill>
                  <a:schemeClr val="tx1"/>
                </a:solidFill>
              </a:rPr>
              <a:t>Enforce Basic Hygiene</a:t>
            </a:r>
          </a:p>
          <a:p>
            <a:pPr marL="400050" lvl="1" indent="0">
              <a:buNone/>
            </a:pPr>
            <a:r>
              <a:rPr lang="en-US">
                <a:solidFill>
                  <a:schemeClr val="tx1"/>
                </a:solidFill>
              </a:rPr>
              <a:t>Validate requests, enforce CORS, and standardize headers before they hit services.</a:t>
            </a:r>
          </a:p>
          <a:p>
            <a:pPr marL="0" indent="0">
              <a:buNone/>
            </a:pPr>
            <a:r>
              <a:rPr lang="en-US" b="1">
                <a:solidFill>
                  <a:schemeClr val="tx1"/>
                </a:solidFill>
              </a:rPr>
              <a:t>Add Lightweight Protections</a:t>
            </a:r>
          </a:p>
          <a:p>
            <a:pPr marL="400050" lvl="1" indent="0">
              <a:buNone/>
            </a:pPr>
            <a:r>
              <a:rPr lang="en-US">
                <a:solidFill>
                  <a:schemeClr val="tx1"/>
                </a:solidFill>
              </a:rPr>
              <a:t>Bot filtering, JWT checks, and plugin-based rules provide simple, optional security layers.</a:t>
            </a:r>
          </a:p>
        </p:txBody>
      </p:sp>
    </p:spTree>
    <p:extLst>
      <p:ext uri="{BB962C8B-B14F-4D97-AF65-F5344CB8AC3E}">
        <p14:creationId xmlns:p14="http://schemas.microsoft.com/office/powerpoint/2010/main" val="17856152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17539" y="467397"/>
            <a:ext cx="695829"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38" name="Group 37">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a:solidFill>
            <a:srgbClr val="FFFFFF"/>
          </a:solidFill>
        </p:grpSpPr>
        <p:sp>
          <p:nvSpPr>
            <p:cNvPr id="39" name="Rectangle 38">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40"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endParaRPr lang="en-US"/>
            </a:p>
          </p:txBody>
        </p:sp>
      </p:grpSp>
      <p:sp>
        <p:nvSpPr>
          <p:cNvPr id="2" name="Title 1">
            <a:extLst>
              <a:ext uri="{FF2B5EF4-FFF2-40B4-BE49-F238E27FC236}">
                <a16:creationId xmlns:a16="http://schemas.microsoft.com/office/drawing/2014/main" id="{8AAAF9F0-03BD-6AF7-9958-D8846A3C7DC7}"/>
              </a:ext>
            </a:extLst>
          </p:cNvPr>
          <p:cNvSpPr>
            <a:spLocks noGrp="1"/>
          </p:cNvSpPr>
          <p:nvPr>
            <p:ph type="title"/>
          </p:nvPr>
        </p:nvSpPr>
        <p:spPr>
          <a:xfrm>
            <a:off x="1000372" y="1209957"/>
            <a:ext cx="3034580" cy="4438087"/>
          </a:xfrm>
        </p:spPr>
        <p:txBody>
          <a:bodyPr anchor="ctr">
            <a:normAutofit/>
          </a:bodyPr>
          <a:lstStyle/>
          <a:p>
            <a:pPr algn="r"/>
            <a:r>
              <a:rPr lang="en-US" sz="3200">
                <a:solidFill>
                  <a:schemeClr val="tx1"/>
                </a:solidFill>
              </a:rPr>
              <a:t>Where API Gateways Stop</a:t>
            </a:r>
          </a:p>
        </p:txBody>
      </p:sp>
      <p:cxnSp>
        <p:nvCxnSpPr>
          <p:cNvPr id="42" name="Straight Connector 41">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56687" y="1930986"/>
            <a:ext cx="0" cy="3200400"/>
          </a:xfrm>
          <a:prstGeom prst="line">
            <a:avLst/>
          </a:prstGeom>
          <a:ln w="15875" cap="sq">
            <a:solidFill>
              <a:schemeClr val="tx2"/>
            </a:solidFill>
            <a:miter lim="800000"/>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E404707-115B-EA19-53D8-095A09616F8C}"/>
              </a:ext>
            </a:extLst>
          </p:cNvPr>
          <p:cNvSpPr>
            <a:spLocks noGrp="1"/>
          </p:cNvSpPr>
          <p:nvPr>
            <p:ph idx="1"/>
          </p:nvPr>
        </p:nvSpPr>
        <p:spPr>
          <a:xfrm>
            <a:off x="4678424" y="1059025"/>
            <a:ext cx="5302189" cy="4739950"/>
          </a:xfrm>
        </p:spPr>
        <p:txBody>
          <a:bodyPr anchor="ctr">
            <a:normAutofit/>
          </a:bodyPr>
          <a:lstStyle/>
          <a:p>
            <a:pPr marL="0" indent="0">
              <a:buNone/>
            </a:pPr>
            <a:r>
              <a:rPr lang="en-US" b="1">
                <a:solidFill>
                  <a:schemeClr val="tx1"/>
                </a:solidFill>
              </a:rPr>
              <a:t>No Object-Level Awareness</a:t>
            </a:r>
          </a:p>
          <a:p>
            <a:pPr marL="400050" lvl="1" indent="0">
              <a:buNone/>
            </a:pPr>
            <a:r>
              <a:rPr lang="en-US">
                <a:solidFill>
                  <a:schemeClr val="tx1"/>
                </a:solidFill>
              </a:rPr>
              <a:t>Gateways don’t understand IDs or schemas → can’t detect BOLA or improper data access.</a:t>
            </a:r>
          </a:p>
          <a:p>
            <a:pPr marL="0" indent="0">
              <a:buNone/>
            </a:pPr>
            <a:r>
              <a:rPr lang="en-US" b="1">
                <a:solidFill>
                  <a:schemeClr val="tx1"/>
                </a:solidFill>
              </a:rPr>
              <a:t>No Behavior Insight</a:t>
            </a:r>
          </a:p>
          <a:p>
            <a:pPr marL="400050" lvl="1" indent="0">
              <a:buNone/>
            </a:pPr>
            <a:r>
              <a:rPr lang="en-US">
                <a:solidFill>
                  <a:schemeClr val="tx1"/>
                </a:solidFill>
              </a:rPr>
              <a:t>Every request looks the same → no anomaly or misuse detection.</a:t>
            </a:r>
          </a:p>
          <a:p>
            <a:pPr marL="0" indent="0">
              <a:buNone/>
            </a:pPr>
            <a:r>
              <a:rPr lang="en-US" b="1">
                <a:solidFill>
                  <a:schemeClr val="tx1"/>
                </a:solidFill>
              </a:rPr>
              <a:t>Inconsistent Protection</a:t>
            </a:r>
          </a:p>
          <a:p>
            <a:pPr marL="400050" lvl="1" indent="0">
              <a:buNone/>
            </a:pPr>
            <a:r>
              <a:rPr lang="en-US">
                <a:solidFill>
                  <a:schemeClr val="tx1"/>
                </a:solidFill>
              </a:rPr>
              <a:t>Plugin-heavy, manual rules → human error and uneven coverage.</a:t>
            </a:r>
            <a:br>
              <a:rPr lang="en-US">
                <a:solidFill>
                  <a:schemeClr val="tx1"/>
                </a:solidFill>
              </a:rPr>
            </a:br>
            <a:endParaRPr lang="en-US">
              <a:solidFill>
                <a:schemeClr val="tx1"/>
              </a:solidFill>
            </a:endParaRPr>
          </a:p>
          <a:p>
            <a:pPr>
              <a:buFont typeface="Wingdings" pitchFamily="2" charset="2"/>
              <a:buChar char="q"/>
            </a:pPr>
            <a:endParaRPr lang="en-US">
              <a:solidFill>
                <a:schemeClr val="tx1"/>
              </a:solidFill>
            </a:endParaRPr>
          </a:p>
        </p:txBody>
      </p:sp>
    </p:spTree>
    <p:extLst>
      <p:ext uri="{BB962C8B-B14F-4D97-AF65-F5344CB8AC3E}">
        <p14:creationId xmlns:p14="http://schemas.microsoft.com/office/powerpoint/2010/main" val="38249252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0" name="Rectangle 109">
            <a:extLst>
              <a:ext uri="{FF2B5EF4-FFF2-40B4-BE49-F238E27FC236}">
                <a16:creationId xmlns:a16="http://schemas.microsoft.com/office/drawing/2014/main" id="{324E43EB-867C-4B35-9A5C-E435157C7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a:extLst>
              <a:ext uri="{FF2B5EF4-FFF2-40B4-BE49-F238E27FC236}">
                <a16:creationId xmlns:a16="http://schemas.microsoft.com/office/drawing/2014/main" id="{A7C0F5DA-B59F-4F13-8BB8-FFD8F2C572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a:p>
        </p:txBody>
      </p:sp>
      <p:sp>
        <p:nvSpPr>
          <p:cNvPr id="114" name="Freeform 5">
            <a:extLst>
              <a:ext uri="{FF2B5EF4-FFF2-40B4-BE49-F238E27FC236}">
                <a16:creationId xmlns:a16="http://schemas.microsoft.com/office/drawing/2014/main" id="{9CEA1DEC-CC9E-4776-9E08-048A15BFA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116" name="Freeform: Shape 115">
            <a:extLst>
              <a:ext uri="{FF2B5EF4-FFF2-40B4-BE49-F238E27FC236}">
                <a16:creationId xmlns:a16="http://schemas.microsoft.com/office/drawing/2014/main" id="{9CE399CF-F4B8-4832-A8CB-B93F6B1EF4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bg1"/>
          </a:solidFill>
          <a:ln>
            <a:noFill/>
          </a:ln>
        </p:spPr>
        <p:txBody>
          <a:bodyPr/>
          <a:lstStyle/>
          <a:p>
            <a:endParaRPr lang="en-US"/>
          </a:p>
        </p:txBody>
      </p:sp>
      <p:sp>
        <p:nvSpPr>
          <p:cNvPr id="118" name="Freeform 5">
            <a:extLst>
              <a:ext uri="{FF2B5EF4-FFF2-40B4-BE49-F238E27FC236}">
                <a16:creationId xmlns:a16="http://schemas.microsoft.com/office/drawing/2014/main" id="{1F23E73A-FDC8-462C-83C1-3AA89614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sp>
        <p:nvSpPr>
          <p:cNvPr id="2" name="Title 1">
            <a:extLst>
              <a:ext uri="{FF2B5EF4-FFF2-40B4-BE49-F238E27FC236}">
                <a16:creationId xmlns:a16="http://schemas.microsoft.com/office/drawing/2014/main" id="{A43A771A-19AB-D559-B6AB-D5A4F266BC9D}"/>
              </a:ext>
            </a:extLst>
          </p:cNvPr>
          <p:cNvSpPr>
            <a:spLocks noGrp="1"/>
          </p:cNvSpPr>
          <p:nvPr>
            <p:ph type="title"/>
          </p:nvPr>
        </p:nvSpPr>
        <p:spPr>
          <a:xfrm>
            <a:off x="994087" y="1130603"/>
            <a:ext cx="3342442" cy="4596794"/>
          </a:xfrm>
        </p:spPr>
        <p:txBody>
          <a:bodyPr anchor="ctr">
            <a:normAutofit/>
          </a:bodyPr>
          <a:lstStyle/>
          <a:p>
            <a:r>
              <a:rPr lang="en-US" sz="3200" dirty="0">
                <a:solidFill>
                  <a:srgbClr val="EBEBEB"/>
                </a:solidFill>
              </a:rPr>
              <a:t>Akamai</a:t>
            </a:r>
            <a:br>
              <a:rPr lang="en-US" sz="3200" dirty="0">
                <a:solidFill>
                  <a:srgbClr val="EBEBEB"/>
                </a:solidFill>
              </a:rPr>
            </a:br>
            <a:r>
              <a:rPr lang="en-US" sz="3200" dirty="0">
                <a:solidFill>
                  <a:srgbClr val="EBEBEB"/>
                </a:solidFill>
              </a:rPr>
              <a:t>API Security</a:t>
            </a:r>
            <a:endParaRPr lang="en-US" sz="3200" dirty="0">
              <a:solidFill>
                <a:srgbClr val="EBEBEB"/>
              </a:solidFill>
              <a:effectLst/>
            </a:endParaRPr>
          </a:p>
        </p:txBody>
      </p:sp>
      <p:sp>
        <p:nvSpPr>
          <p:cNvPr id="105" name="Content Placeholder 3">
            <a:extLst>
              <a:ext uri="{FF2B5EF4-FFF2-40B4-BE49-F238E27FC236}">
                <a16:creationId xmlns:a16="http://schemas.microsoft.com/office/drawing/2014/main" id="{9726272A-45CA-A3C9-589A-AD2D66CB80DD}"/>
              </a:ext>
            </a:extLst>
          </p:cNvPr>
          <p:cNvSpPr>
            <a:spLocks noGrp="1"/>
          </p:cNvSpPr>
          <p:nvPr>
            <p:ph idx="1"/>
          </p:nvPr>
        </p:nvSpPr>
        <p:spPr>
          <a:xfrm>
            <a:off x="5290077" y="437513"/>
            <a:ext cx="5502614" cy="5954325"/>
          </a:xfrm>
        </p:spPr>
        <p:txBody>
          <a:bodyPr anchor="ctr">
            <a:normAutofit/>
          </a:bodyPr>
          <a:lstStyle/>
          <a:p>
            <a:pPr>
              <a:lnSpc>
                <a:spcPct val="90000"/>
              </a:lnSpc>
              <a:buFont typeface="+mj-lt"/>
              <a:buAutoNum type="arabicPeriod"/>
            </a:pPr>
            <a:r>
              <a:rPr lang="en-US" sz="2000" dirty="0"/>
              <a:t>**Full Visibility**  </a:t>
            </a:r>
          </a:p>
          <a:p>
            <a:pPr lvl="1">
              <a:lnSpc>
                <a:spcPct val="90000"/>
              </a:lnSpc>
              <a:buFont typeface="Wingdings" pitchFamily="2" charset="2"/>
              <a:buChar char="q"/>
            </a:pPr>
            <a:r>
              <a:rPr lang="en-US" sz="2000" dirty="0"/>
              <a:t>Auto-discovers shadow, zombie, legacy &amp; AI APIs  </a:t>
            </a:r>
          </a:p>
          <a:p>
            <a:pPr lvl="1">
              <a:lnSpc>
                <a:spcPct val="90000"/>
              </a:lnSpc>
              <a:buFont typeface="Wingdings" pitchFamily="2" charset="2"/>
              <a:buChar char="q"/>
            </a:pPr>
            <a:r>
              <a:rPr lang="en-US" sz="2000" dirty="0"/>
              <a:t>  Full inventory: schemas, objects, data flows, logic</a:t>
            </a:r>
          </a:p>
          <a:p>
            <a:pPr>
              <a:lnSpc>
                <a:spcPct val="90000"/>
              </a:lnSpc>
              <a:buFont typeface="+mj-lt"/>
              <a:buAutoNum type="arabicPeriod"/>
            </a:pPr>
            <a:r>
              <a:rPr lang="en-US" sz="2000" dirty="0"/>
              <a:t>**Real-Time Risk Intelligence**  </a:t>
            </a:r>
          </a:p>
          <a:p>
            <a:pPr lvl="1">
              <a:lnSpc>
                <a:spcPct val="90000"/>
              </a:lnSpc>
              <a:buFont typeface="Wingdings" pitchFamily="2" charset="2"/>
              <a:buChar char="q"/>
            </a:pPr>
            <a:r>
              <a:rPr lang="en-US" sz="2000" dirty="0"/>
              <a:t>ML detects anomalies (leakage, bots, abuse)  </a:t>
            </a:r>
          </a:p>
          <a:p>
            <a:pPr lvl="1">
              <a:lnSpc>
                <a:spcPct val="90000"/>
              </a:lnSpc>
              <a:buFont typeface="Wingdings" pitchFamily="2" charset="2"/>
              <a:buChar char="q"/>
            </a:pPr>
            <a:r>
              <a:rPr lang="en-US" sz="2000" dirty="0"/>
              <a:t>OWASP Top 10 + impact-based prioritization</a:t>
            </a:r>
          </a:p>
          <a:p>
            <a:pPr>
              <a:lnSpc>
                <a:spcPct val="90000"/>
              </a:lnSpc>
              <a:buFont typeface="+mj-lt"/>
              <a:buAutoNum type="arabicPeriod"/>
            </a:pPr>
            <a:r>
              <a:rPr lang="en-US" sz="2000" dirty="0"/>
              <a:t>**Flexible Protection**  </a:t>
            </a:r>
          </a:p>
          <a:p>
            <a:pPr lvl="1">
              <a:lnSpc>
                <a:spcPct val="90000"/>
              </a:lnSpc>
              <a:buFont typeface="Wingdings" pitchFamily="2" charset="2"/>
              <a:buChar char="q"/>
            </a:pPr>
            <a:r>
              <a:rPr lang="en-US" sz="2000" dirty="0"/>
              <a:t>Out-of-band monitoring  </a:t>
            </a:r>
          </a:p>
          <a:p>
            <a:pPr lvl="1">
              <a:lnSpc>
                <a:spcPct val="90000"/>
              </a:lnSpc>
              <a:buFont typeface="Wingdings" pitchFamily="2" charset="2"/>
              <a:buChar char="q"/>
            </a:pPr>
            <a:r>
              <a:rPr lang="en-US" sz="2000" dirty="0"/>
              <a:t>Inline blocking via App &amp; API Protector  </a:t>
            </a:r>
          </a:p>
          <a:p>
            <a:pPr lvl="1">
              <a:lnSpc>
                <a:spcPct val="90000"/>
              </a:lnSpc>
              <a:buFont typeface="Wingdings" pitchFamily="2" charset="2"/>
              <a:buChar char="q"/>
            </a:pPr>
            <a:r>
              <a:rPr lang="en-US" sz="2000" dirty="0"/>
              <a:t>Integrates: gateways, WAFs, SIEM/ITSM/SOAR</a:t>
            </a:r>
          </a:p>
        </p:txBody>
      </p:sp>
    </p:spTree>
    <p:extLst>
      <p:ext uri="{BB962C8B-B14F-4D97-AF65-F5344CB8AC3E}">
        <p14:creationId xmlns:p14="http://schemas.microsoft.com/office/powerpoint/2010/main" val="23154305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324E43EB-867C-4B35-9A5C-E435157C7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A7C0F5DA-B59F-4F13-8BB8-FFD8F2C572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a:p>
        </p:txBody>
      </p:sp>
      <p:sp>
        <p:nvSpPr>
          <p:cNvPr id="25" name="Freeform 5">
            <a:extLst>
              <a:ext uri="{FF2B5EF4-FFF2-40B4-BE49-F238E27FC236}">
                <a16:creationId xmlns:a16="http://schemas.microsoft.com/office/drawing/2014/main" id="{9CEA1DEC-CC9E-4776-9E08-048A15BFA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27" name="Freeform: Shape 26">
            <a:extLst>
              <a:ext uri="{FF2B5EF4-FFF2-40B4-BE49-F238E27FC236}">
                <a16:creationId xmlns:a16="http://schemas.microsoft.com/office/drawing/2014/main" id="{9CE399CF-F4B8-4832-A8CB-B93F6B1EF4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bg1"/>
          </a:solidFill>
          <a:ln>
            <a:noFill/>
          </a:ln>
        </p:spPr>
        <p:txBody>
          <a:bodyPr/>
          <a:lstStyle/>
          <a:p>
            <a:endParaRPr lang="en-US"/>
          </a:p>
        </p:txBody>
      </p:sp>
      <p:sp>
        <p:nvSpPr>
          <p:cNvPr id="29" name="Freeform 5">
            <a:extLst>
              <a:ext uri="{FF2B5EF4-FFF2-40B4-BE49-F238E27FC236}">
                <a16:creationId xmlns:a16="http://schemas.microsoft.com/office/drawing/2014/main" id="{1F23E73A-FDC8-462C-83C1-3AA89614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sp>
        <p:nvSpPr>
          <p:cNvPr id="2" name="Title 1">
            <a:extLst>
              <a:ext uri="{FF2B5EF4-FFF2-40B4-BE49-F238E27FC236}">
                <a16:creationId xmlns:a16="http://schemas.microsoft.com/office/drawing/2014/main" id="{945B382B-5FC7-3249-D9EE-EA29748A7CE6}"/>
              </a:ext>
            </a:extLst>
          </p:cNvPr>
          <p:cNvSpPr>
            <a:spLocks noGrp="1"/>
          </p:cNvSpPr>
          <p:nvPr>
            <p:ph type="title"/>
          </p:nvPr>
        </p:nvSpPr>
        <p:spPr>
          <a:xfrm>
            <a:off x="994087" y="1130603"/>
            <a:ext cx="3342442" cy="4596794"/>
          </a:xfrm>
        </p:spPr>
        <p:txBody>
          <a:bodyPr anchor="ctr">
            <a:normAutofit/>
          </a:bodyPr>
          <a:lstStyle/>
          <a:p>
            <a:r>
              <a:rPr lang="en-US" sz="3200">
                <a:solidFill>
                  <a:srgbClr val="EBEBEB"/>
                </a:solidFill>
              </a:rPr>
              <a:t>3 Things to Take With You</a:t>
            </a:r>
          </a:p>
        </p:txBody>
      </p:sp>
      <p:sp>
        <p:nvSpPr>
          <p:cNvPr id="3" name="Content Placeholder 2">
            <a:extLst>
              <a:ext uri="{FF2B5EF4-FFF2-40B4-BE49-F238E27FC236}">
                <a16:creationId xmlns:a16="http://schemas.microsoft.com/office/drawing/2014/main" id="{E38A78B5-9694-A7C4-BB82-E90851BF310A}"/>
              </a:ext>
            </a:extLst>
          </p:cNvPr>
          <p:cNvSpPr>
            <a:spLocks noGrp="1"/>
          </p:cNvSpPr>
          <p:nvPr>
            <p:ph idx="1"/>
          </p:nvPr>
        </p:nvSpPr>
        <p:spPr>
          <a:xfrm>
            <a:off x="5290077" y="437513"/>
            <a:ext cx="5502614" cy="5954325"/>
          </a:xfrm>
        </p:spPr>
        <p:txBody>
          <a:bodyPr anchor="ctr">
            <a:normAutofit/>
          </a:bodyPr>
          <a:lstStyle/>
          <a:p>
            <a:pPr marL="457200" indent="-457200">
              <a:buFont typeface="+mj-lt"/>
              <a:buAutoNum type="arabicPeriod"/>
            </a:pPr>
            <a:r>
              <a:rPr lang="en-US" sz="2000" b="1" dirty="0"/>
              <a:t>You Can’t Secure What You Can’t See</a:t>
            </a:r>
            <a:endParaRPr lang="en-US" sz="2000" dirty="0"/>
          </a:p>
          <a:p>
            <a:pPr lvl="1">
              <a:buFont typeface="Wingdings" pitchFamily="2" charset="2"/>
              <a:buChar char="q"/>
            </a:pPr>
            <a:r>
              <a:rPr lang="en-US" sz="2000" dirty="0"/>
              <a:t>Discovery is the foundation of every mature API security program.</a:t>
            </a:r>
          </a:p>
          <a:p>
            <a:pPr marL="457200" indent="-457200">
              <a:buFont typeface="+mj-lt"/>
              <a:buAutoNum type="arabicPeriod"/>
            </a:pPr>
            <a:r>
              <a:rPr lang="en-US" sz="2000" b="1" dirty="0"/>
              <a:t>Gateways Aren’t Enough</a:t>
            </a:r>
            <a:endParaRPr lang="en-US" sz="2000" dirty="0"/>
          </a:p>
          <a:p>
            <a:pPr lvl="1">
              <a:buFont typeface="Wingdings" pitchFamily="2" charset="2"/>
              <a:buChar char="q"/>
            </a:pPr>
            <a:r>
              <a:rPr lang="en-US" sz="2000" dirty="0"/>
              <a:t>Use them for traffic control, but rely on deeper object-level validation for real protection.</a:t>
            </a:r>
          </a:p>
          <a:p>
            <a:pPr marL="457200" indent="-457200">
              <a:buFont typeface="+mj-lt"/>
              <a:buAutoNum type="arabicPeriod"/>
            </a:pPr>
            <a:r>
              <a:rPr lang="en-US" sz="2000" b="1" dirty="0"/>
              <a:t>Continuous Verification Wins</a:t>
            </a:r>
            <a:endParaRPr lang="en-US" sz="2000" dirty="0"/>
          </a:p>
          <a:p>
            <a:pPr lvl="1">
              <a:buFont typeface="Wingdings" pitchFamily="2" charset="2"/>
              <a:buChar char="q"/>
            </a:pPr>
            <a:r>
              <a:rPr lang="en-US" sz="2000" dirty="0"/>
              <a:t>Monitor behavior in real time to catch misuse, misconfigurations, and high-risk API calls early.</a:t>
            </a:r>
          </a:p>
        </p:txBody>
      </p:sp>
    </p:spTree>
    <p:extLst>
      <p:ext uri="{BB962C8B-B14F-4D97-AF65-F5344CB8AC3E}">
        <p14:creationId xmlns:p14="http://schemas.microsoft.com/office/powerpoint/2010/main" val="35695758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4091D54B-59AB-4A5E-8E9E-0421BD66D4F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21" name="Rectangle 20">
              <a:extLst>
                <a:ext uri="{FF2B5EF4-FFF2-40B4-BE49-F238E27FC236}">
                  <a16:creationId xmlns:a16="http://schemas.microsoft.com/office/drawing/2014/main" id="{547CE62E-FFFD-4A1F-BA78-C3B89C36F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2" name="Freeform 5">
              <a:extLst>
                <a:ext uri="{FF2B5EF4-FFF2-40B4-BE49-F238E27FC236}">
                  <a16:creationId xmlns:a16="http://schemas.microsoft.com/office/drawing/2014/main" id="{AE51FD27-6B6A-4D21-BF22-245DA9BD0B3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3" name="Rectangle 22">
            <a:extLst>
              <a:ext uri="{FF2B5EF4-FFF2-40B4-BE49-F238E27FC236}">
                <a16:creationId xmlns:a16="http://schemas.microsoft.com/office/drawing/2014/main" id="{B8144315-1C5A-4185-A952-25D98D303D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Freeform 5">
            <a:extLst>
              <a:ext uri="{FF2B5EF4-FFF2-40B4-BE49-F238E27FC236}">
                <a16:creationId xmlns:a16="http://schemas.microsoft.com/office/drawing/2014/main" id="{4E212B76-74CB-461F-90A3-EF4F2397A8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2" name="Title 1">
            <a:extLst>
              <a:ext uri="{FF2B5EF4-FFF2-40B4-BE49-F238E27FC236}">
                <a16:creationId xmlns:a16="http://schemas.microsoft.com/office/drawing/2014/main" id="{224F702B-996E-274B-D883-F0CEA88C508D}"/>
              </a:ext>
            </a:extLst>
          </p:cNvPr>
          <p:cNvSpPr>
            <a:spLocks noGrp="1"/>
          </p:cNvSpPr>
          <p:nvPr>
            <p:ph type="title"/>
          </p:nvPr>
        </p:nvSpPr>
        <p:spPr>
          <a:xfrm>
            <a:off x="6744929" y="1241266"/>
            <a:ext cx="4798142" cy="3153753"/>
          </a:xfrm>
        </p:spPr>
        <p:txBody>
          <a:bodyPr vert="horz" lIns="91440" tIns="45720" rIns="91440" bIns="45720" rtlCol="0" anchor="b">
            <a:normAutofit/>
          </a:bodyPr>
          <a:lstStyle/>
          <a:p>
            <a:r>
              <a:rPr lang="en-US" sz="5400" b="0" i="0" kern="1200" dirty="0">
                <a:solidFill>
                  <a:srgbClr val="EBEBEB"/>
                </a:solidFill>
                <a:latin typeface="+mj-lt"/>
                <a:ea typeface="+mj-ea"/>
                <a:cs typeface="+mj-cs"/>
              </a:rPr>
              <a:t>Question and Answers</a:t>
            </a:r>
          </a:p>
        </p:txBody>
      </p:sp>
      <p:sp>
        <p:nvSpPr>
          <p:cNvPr id="25" name="Rectangle 24">
            <a:extLst>
              <a:ext uri="{FF2B5EF4-FFF2-40B4-BE49-F238E27FC236}">
                <a16:creationId xmlns:a16="http://schemas.microsoft.com/office/drawing/2014/main" id="{81E746D0-4B37-4869-B2EF-79D5F0FFFB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26" name="Graphic 25" descr="Questions">
            <a:extLst>
              <a:ext uri="{FF2B5EF4-FFF2-40B4-BE49-F238E27FC236}">
                <a16:creationId xmlns:a16="http://schemas.microsoft.com/office/drawing/2014/main" id="{1F65D2A8-0A13-506B-9B89-31A2A2C03D4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88503" y="1113063"/>
            <a:ext cx="4628758" cy="4628758"/>
          </a:xfrm>
          <a:prstGeom prst="roundRect">
            <a:avLst>
              <a:gd name="adj" fmla="val 1858"/>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3123233456"/>
      </p:ext>
    </p:extLst>
  </p:cSld>
  <p:clrMapOvr>
    <a:overrideClrMapping bg1="dk1" tx1="lt1" bg2="dk2" tx2="lt2" accent1="accent1" accent2="accent2" accent3="accent3" accent4="accent4" accent5="accent5" accent6="accent6" hlink="hlink" folHlink="folHlink"/>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 Boardroom</Template>
  <TotalTime>2299</TotalTime>
  <Words>1883</Words>
  <Application>Microsoft Macintosh PowerPoint</Application>
  <PresentationFormat>Widescreen</PresentationFormat>
  <Paragraphs>186</Paragraphs>
  <Slides>13</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Arial</vt:lpstr>
      <vt:lpstr>Century Gothic</vt:lpstr>
      <vt:lpstr>Wingdings</vt:lpstr>
      <vt:lpstr>Wingdings 3</vt:lpstr>
      <vt:lpstr>Ion Boardroom</vt:lpstr>
      <vt:lpstr>Securing the Modern API Attack Surface </vt:lpstr>
      <vt:lpstr>The API Explosion: 3 Truths You Can’t Ignore</vt:lpstr>
      <vt:lpstr>The API Breach Pattern: </vt:lpstr>
      <vt:lpstr> Modern Apps Depend on APIs </vt:lpstr>
      <vt:lpstr>API Security Deployment Approaches </vt:lpstr>
      <vt:lpstr>Three Layers of API Identity: Authentication Authorization Context</vt:lpstr>
      <vt:lpstr>OWASP API Threat Examples</vt:lpstr>
      <vt:lpstr>LIVE DEMO</vt:lpstr>
      <vt:lpstr>Where API Gateways Help</vt:lpstr>
      <vt:lpstr>Where API Gateways Stop</vt:lpstr>
      <vt:lpstr>Akamai API Security</vt:lpstr>
      <vt:lpstr>3 Things to Take With You</vt:lpstr>
      <vt:lpstr>Question and Answers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Michael Cropsey</dc:creator>
  <cp:lastModifiedBy>Michael Cropsey</cp:lastModifiedBy>
  <cp:revision>81</cp:revision>
  <cp:lastPrinted>2025-11-16T19:00:30Z</cp:lastPrinted>
  <dcterms:created xsi:type="dcterms:W3CDTF">2025-11-13T15:55:25Z</dcterms:created>
  <dcterms:modified xsi:type="dcterms:W3CDTF">2025-11-24T19:00:47Z</dcterms:modified>
</cp:coreProperties>
</file>